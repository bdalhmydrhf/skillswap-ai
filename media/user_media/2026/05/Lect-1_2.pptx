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15"/>
  </p:notesMasterIdLst>
  <p:handoutMasterIdLst>
    <p:handoutMasterId r:id="rId16"/>
  </p:handoutMasterIdLst>
  <p:sldIdLst>
    <p:sldId id="256" r:id="rId2"/>
    <p:sldId id="263" r:id="rId3"/>
    <p:sldId id="257" r:id="rId4"/>
    <p:sldId id="258" r:id="rId5"/>
    <p:sldId id="259" r:id="rId6"/>
    <p:sldId id="260" r:id="rId7"/>
    <p:sldId id="261" r:id="rId8"/>
    <p:sldId id="262"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نمط متوسط 4 - تميي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444" autoAdjust="0"/>
    <p:restoredTop sz="65498" autoAdjust="0"/>
  </p:normalViewPr>
  <p:slideViewPr>
    <p:cSldViewPr snapToGrid="0">
      <p:cViewPr varScale="1">
        <p:scale>
          <a:sx n="48" d="100"/>
          <a:sy n="48" d="100"/>
        </p:scale>
        <p:origin x="1554" y="4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5" d="100"/>
          <a:sy n="55" d="100"/>
        </p:scale>
        <p:origin x="82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a:extLst>
              <a:ext uri="{FF2B5EF4-FFF2-40B4-BE49-F238E27FC236}">
                <a16:creationId xmlns:a16="http://schemas.microsoft.com/office/drawing/2014/main" id="{DD4D0983-69C5-4DC0-B2DE-38AF268DC0B1}"/>
              </a:ext>
            </a:extLst>
          </p:cNvPr>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r>
              <a:rPr lang="ar-SY"/>
              <a:t>ادارة نظم المعلومات - عملي - محاضرة 1</a:t>
            </a:r>
            <a:endParaRPr lang="en-US"/>
          </a:p>
        </p:txBody>
      </p:sp>
      <p:sp>
        <p:nvSpPr>
          <p:cNvPr id="3" name="عنصر نائب للتاريخ 2">
            <a:extLst>
              <a:ext uri="{FF2B5EF4-FFF2-40B4-BE49-F238E27FC236}">
                <a16:creationId xmlns:a16="http://schemas.microsoft.com/office/drawing/2014/main" id="{82B1871A-C0A1-471A-93B3-90EB0C462A5C}"/>
              </a:ext>
            </a:extLst>
          </p:cNvPr>
          <p:cNvSpPr>
            <a:spLocks noGrp="1"/>
          </p:cNvSpPr>
          <p:nvPr>
            <p:ph type="dt" sz="quarter" idx="1"/>
          </p:nvPr>
        </p:nvSpPr>
        <p:spPr>
          <a:xfrm>
            <a:off x="1588" y="0"/>
            <a:ext cx="2971800" cy="458788"/>
          </a:xfrm>
          <a:prstGeom prst="rect">
            <a:avLst/>
          </a:prstGeom>
        </p:spPr>
        <p:txBody>
          <a:bodyPr vert="horz" lIns="91440" tIns="45720" rIns="91440" bIns="45720" rtlCol="1"/>
          <a:lstStyle>
            <a:lvl1pPr algn="r">
              <a:defRPr sz="1200"/>
            </a:lvl1pPr>
          </a:lstStyle>
          <a:p>
            <a:fld id="{260BFA1E-8D7C-40B7-95F7-98AEAE6807B1}" type="datetime8">
              <a:rPr lang="ar-SY" smtClean="0"/>
              <a:t>12 نيسان، 26</a:t>
            </a:fld>
            <a:endParaRPr lang="en-US"/>
          </a:p>
        </p:txBody>
      </p:sp>
      <p:sp>
        <p:nvSpPr>
          <p:cNvPr id="4" name="عنصر نائب للتذييل 3">
            <a:extLst>
              <a:ext uri="{FF2B5EF4-FFF2-40B4-BE49-F238E27FC236}">
                <a16:creationId xmlns:a16="http://schemas.microsoft.com/office/drawing/2014/main" id="{1D5131C4-4507-496B-B6AA-9959FA29286E}"/>
              </a:ext>
            </a:extLst>
          </p:cNvPr>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l">
              <a:defRPr sz="1200"/>
            </a:lvl1pPr>
          </a:lstStyle>
          <a:p>
            <a:r>
              <a:rPr lang="ar-SY"/>
              <a:t>م.احمد احمد - م.كلودا ابراهيم - م.نغم فاضل</a:t>
            </a:r>
            <a:endParaRPr lang="en-US"/>
          </a:p>
        </p:txBody>
      </p:sp>
      <p:sp>
        <p:nvSpPr>
          <p:cNvPr id="5" name="عنصر نائب لرقم الشريحة 4">
            <a:extLst>
              <a:ext uri="{FF2B5EF4-FFF2-40B4-BE49-F238E27FC236}">
                <a16:creationId xmlns:a16="http://schemas.microsoft.com/office/drawing/2014/main" id="{C08D42AF-CDD7-4934-9B27-9ADCFF212331}"/>
              </a:ext>
            </a:extLst>
          </p:cNvPr>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r">
              <a:defRPr sz="1200"/>
            </a:lvl1pPr>
          </a:lstStyle>
          <a:p>
            <a:fld id="{9C6AF116-7F7C-4470-959F-DD8741D2A252}" type="slidenum">
              <a:rPr lang="en-US" smtClean="0"/>
              <a:t>‹#›</a:t>
            </a:fld>
            <a:endParaRPr lang="en-US"/>
          </a:p>
        </p:txBody>
      </p:sp>
    </p:spTree>
    <p:extLst>
      <p:ext uri="{BB962C8B-B14F-4D97-AF65-F5344CB8AC3E}">
        <p14:creationId xmlns:p14="http://schemas.microsoft.com/office/powerpoint/2010/main" val="1064101533"/>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1"/>
            <a:ext cx="2971800" cy="458788"/>
          </a:xfrm>
          <a:prstGeom prst="rect">
            <a:avLst/>
          </a:prstGeom>
        </p:spPr>
        <p:txBody>
          <a:bodyPr vert="horz" lIns="91440" tIns="45720" rIns="91440" bIns="45720" rtlCol="1"/>
          <a:lstStyle>
            <a:lvl1pPr algn="l">
              <a:defRPr sz="1200"/>
            </a:lvl1pPr>
          </a:lstStyle>
          <a:p>
            <a:r>
              <a:rPr lang="ar-SY"/>
              <a:t>ادارة نظم المعلومات - عملي - محاضرة 1</a:t>
            </a:r>
            <a:endParaRPr lang="en-US"/>
          </a:p>
        </p:txBody>
      </p:sp>
      <p:sp>
        <p:nvSpPr>
          <p:cNvPr id="3" name="عنصر نائب للتاريخ 2"/>
          <p:cNvSpPr>
            <a:spLocks noGrp="1"/>
          </p:cNvSpPr>
          <p:nvPr>
            <p:ph type="dt" idx="1"/>
          </p:nvPr>
        </p:nvSpPr>
        <p:spPr>
          <a:xfrm>
            <a:off x="1588" y="1"/>
            <a:ext cx="2971800" cy="458788"/>
          </a:xfrm>
          <a:prstGeom prst="rect">
            <a:avLst/>
          </a:prstGeom>
        </p:spPr>
        <p:txBody>
          <a:bodyPr vert="horz" lIns="91440" tIns="45720" rIns="91440" bIns="45720" rtlCol="1"/>
          <a:lstStyle>
            <a:lvl1pPr algn="r">
              <a:defRPr sz="1200"/>
            </a:lvl1pPr>
          </a:lstStyle>
          <a:p>
            <a:fld id="{14408981-BFFB-4056-8415-C3B50DC1A81F}" type="datetime8">
              <a:rPr lang="ar-SY" smtClean="0"/>
              <a:t>12 نيسان، 26</a:t>
            </a:fld>
            <a:endParaRPr lang="en-US"/>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49"/>
            <a:ext cx="5486400" cy="3600451"/>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r>
              <a:rPr lang="ar-SY"/>
              <a:t>م.احمد احمد - م.كلودا ابراهيم - م.نغم فاضل</a:t>
            </a:r>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CDD2AA5D-7EA2-42A2-84AA-4A661D9CB6BA}" type="slidenum">
              <a:rPr lang="en-US" smtClean="0"/>
              <a:t>‹#›</a:t>
            </a:fld>
            <a:endParaRPr lang="en-US"/>
          </a:p>
        </p:txBody>
      </p:sp>
    </p:spTree>
    <p:extLst>
      <p:ext uri="{BB962C8B-B14F-4D97-AF65-F5344CB8AC3E}">
        <p14:creationId xmlns:p14="http://schemas.microsoft.com/office/powerpoint/2010/main" val="3513138451"/>
      </p:ext>
    </p:extLst>
  </p:cSld>
  <p:clrMap bg1="lt1" tx1="dk1" bg2="lt2" tx2="dk2" accent1="accent1" accent2="accent2" accent3="accent3" accent4="accent4" accent5="accent5" accent6="accent6" hlink="hlink" folHlink="folHlink"/>
  <p:hf/>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1</a:t>
            </a:fld>
            <a:endParaRPr lang="en-US"/>
          </a:p>
        </p:txBody>
      </p:sp>
      <p:sp>
        <p:nvSpPr>
          <p:cNvPr id="5" name="عنصر نائب للتاريخ 4">
            <a:extLst>
              <a:ext uri="{FF2B5EF4-FFF2-40B4-BE49-F238E27FC236}">
                <a16:creationId xmlns:a16="http://schemas.microsoft.com/office/drawing/2014/main" id="{2403229A-DE89-4F21-BB29-7F5B31C94C90}"/>
              </a:ext>
            </a:extLst>
          </p:cNvPr>
          <p:cNvSpPr>
            <a:spLocks noGrp="1"/>
          </p:cNvSpPr>
          <p:nvPr>
            <p:ph type="dt" idx="1"/>
          </p:nvPr>
        </p:nvSpPr>
        <p:spPr/>
        <p:txBody>
          <a:bodyPr/>
          <a:lstStyle/>
          <a:p>
            <a:fld id="{4E2317D2-F1F6-4550-88E8-6111E555E22F}"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7D711139-03CF-4604-B255-02E97626AE62}"/>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48FAC4FF-963A-4EEE-A4E3-52CD1A658674}"/>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3509750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2</a:t>
            </a:fld>
            <a:endParaRPr lang="en-US"/>
          </a:p>
        </p:txBody>
      </p:sp>
      <p:sp>
        <p:nvSpPr>
          <p:cNvPr id="5" name="عنصر نائب للتاريخ 4">
            <a:extLst>
              <a:ext uri="{FF2B5EF4-FFF2-40B4-BE49-F238E27FC236}">
                <a16:creationId xmlns:a16="http://schemas.microsoft.com/office/drawing/2014/main" id="{0EF9D4CB-BF6F-4268-91F9-65C4C5431036}"/>
              </a:ext>
            </a:extLst>
          </p:cNvPr>
          <p:cNvSpPr>
            <a:spLocks noGrp="1"/>
          </p:cNvSpPr>
          <p:nvPr>
            <p:ph type="dt" idx="1"/>
          </p:nvPr>
        </p:nvSpPr>
        <p:spPr/>
        <p:txBody>
          <a:bodyPr/>
          <a:lstStyle/>
          <a:p>
            <a:fld id="{D17B16CF-F011-42F1-BDCC-E0F3E2C7069F}"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072688A1-055C-43FD-BFE7-CAC826D63DE5}"/>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7A14B7F3-FE83-48FC-8D49-4A5A2C83258D}"/>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3803018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r>
              <a:rPr lang="en-US" sz="1200" b="1" i="0" u="none" strike="noStrike" kern="1200" baseline="0" dirty="0">
                <a:solidFill>
                  <a:schemeClr val="tx1"/>
                </a:solidFill>
                <a:latin typeface="+mn-lt"/>
                <a:ea typeface="+mn-ea"/>
                <a:cs typeface="+mn-cs"/>
              </a:rPr>
              <a:t>Hardware </a:t>
            </a:r>
            <a:r>
              <a:rPr lang="en-US" sz="1200" b="0" i="0" u="none" strike="noStrike" kern="1200" baseline="0" dirty="0">
                <a:solidFill>
                  <a:schemeClr val="tx1"/>
                </a:solidFill>
                <a:latin typeface="+mn-lt"/>
                <a:ea typeface="+mn-ea"/>
                <a:cs typeface="+mn-cs"/>
              </a:rPr>
              <a:t>consists of everything in the physical layer of the information system.</a:t>
            </a:r>
          </a:p>
          <a:p>
            <a:pPr algn="l" rtl="0"/>
            <a:r>
              <a:rPr lang="en-US" sz="1200" b="0" i="0" u="none" strike="noStrike" kern="1200" baseline="0" dirty="0">
                <a:solidFill>
                  <a:schemeClr val="tx1"/>
                </a:solidFill>
                <a:latin typeface="+mn-lt"/>
                <a:ea typeface="+mn-ea"/>
                <a:cs typeface="+mn-cs"/>
              </a:rPr>
              <a:t>For example, hardware can include servers, workstations, networks,</a:t>
            </a:r>
          </a:p>
          <a:p>
            <a:pPr algn="l" rtl="0"/>
            <a:r>
              <a:rPr lang="en-US" sz="1200" b="0" i="0" u="none" strike="noStrike" kern="1200" baseline="0" dirty="0">
                <a:solidFill>
                  <a:schemeClr val="tx1"/>
                </a:solidFill>
                <a:latin typeface="+mn-lt"/>
                <a:ea typeface="+mn-ea"/>
                <a:cs typeface="+mn-cs"/>
              </a:rPr>
              <a:t>telecommunications equipment, fiber-optic cables, mobile devices, scanners,</a:t>
            </a:r>
          </a:p>
          <a:p>
            <a:pPr algn="l" rtl="0"/>
            <a:r>
              <a:rPr lang="en-US" sz="1200" b="0" i="0" u="none" strike="noStrike" kern="1200" baseline="0" dirty="0">
                <a:solidFill>
                  <a:schemeClr val="tx1"/>
                </a:solidFill>
                <a:latin typeface="+mn-lt"/>
                <a:ea typeface="+mn-ea"/>
                <a:cs typeface="+mn-cs"/>
              </a:rPr>
              <a:t>digital capture devices, and other technology-based infrastructure. A large</a:t>
            </a:r>
          </a:p>
          <a:p>
            <a:pPr algn="l" rtl="0"/>
            <a:r>
              <a:rPr lang="en-US" sz="1200" b="0" i="0" u="none" strike="noStrike" kern="1200" baseline="0" dirty="0">
                <a:solidFill>
                  <a:schemeClr val="tx1"/>
                </a:solidFill>
                <a:latin typeface="+mn-lt"/>
                <a:ea typeface="+mn-ea"/>
                <a:cs typeface="+mn-cs"/>
              </a:rPr>
              <a:t>concentration of servers working together is called a </a:t>
            </a:r>
            <a:r>
              <a:rPr lang="en-US" sz="1200" b="1" i="0" u="none" strike="noStrike" kern="1200" baseline="0" dirty="0">
                <a:solidFill>
                  <a:schemeClr val="tx1"/>
                </a:solidFill>
                <a:latin typeface="+mn-lt"/>
                <a:ea typeface="+mn-ea"/>
                <a:cs typeface="+mn-cs"/>
              </a:rPr>
              <a:t>server farm</a:t>
            </a:r>
            <a:r>
              <a:rPr lang="en-US" sz="1200" b="0" i="0" u="none" strike="noStrike" kern="1200" baseline="0" dirty="0">
                <a:solidFill>
                  <a:schemeClr val="tx1"/>
                </a:solidFill>
                <a:latin typeface="+mn-lt"/>
                <a:ea typeface="+mn-ea"/>
                <a:cs typeface="+mn-cs"/>
              </a:rPr>
              <a:t>. As new</a:t>
            </a:r>
          </a:p>
          <a:p>
            <a:pPr algn="l" rtl="0"/>
            <a:r>
              <a:rPr lang="en-US" sz="1200" b="0" i="0" u="none" strike="noStrike" kern="1200" baseline="0" dirty="0">
                <a:solidFill>
                  <a:schemeClr val="tx1"/>
                </a:solidFill>
                <a:latin typeface="+mn-lt"/>
                <a:ea typeface="+mn-ea"/>
                <a:cs typeface="+mn-cs"/>
              </a:rPr>
              <a:t>technologies emerge, manufacturers race to market the innovations and reap</a:t>
            </a:r>
          </a:p>
          <a:p>
            <a:pPr algn="l" rtl="0"/>
            <a:r>
              <a:rPr lang="en-US" sz="1200" b="0" i="0" u="none" strike="noStrike" kern="1200" baseline="0" dirty="0">
                <a:solidFill>
                  <a:schemeClr val="tx1"/>
                </a:solidFill>
                <a:latin typeface="+mn-lt"/>
                <a:ea typeface="+mn-ea"/>
                <a:cs typeface="+mn-cs"/>
              </a:rPr>
              <a:t>the rewards.</a:t>
            </a:r>
          </a:p>
          <a:p>
            <a:pPr algn="l" rtl="0"/>
            <a:r>
              <a:rPr lang="en-US" sz="1200" b="1" i="0" u="none" strike="noStrike" kern="1200" baseline="0" dirty="0">
                <a:solidFill>
                  <a:schemeClr val="tx1"/>
                </a:solidFill>
                <a:latin typeface="+mn-lt"/>
                <a:ea typeface="+mn-ea"/>
                <a:cs typeface="+mn-cs"/>
              </a:rPr>
              <a:t>Software </a:t>
            </a:r>
            <a:r>
              <a:rPr lang="en-US" sz="1200" b="0" i="0" u="none" strike="noStrike" kern="1200" baseline="0" dirty="0">
                <a:solidFill>
                  <a:schemeClr val="tx1"/>
                </a:solidFill>
                <a:latin typeface="+mn-lt"/>
                <a:ea typeface="+mn-ea"/>
                <a:cs typeface="+mn-cs"/>
              </a:rPr>
              <a:t>refers to the programs that control the hardware and produce the desired information or results. Software consists of system software and application software.</a:t>
            </a:r>
          </a:p>
          <a:p>
            <a:pPr algn="l" rtl="0"/>
            <a:r>
              <a:rPr lang="en-US" sz="1200" b="1" i="0" u="none" strike="noStrike" kern="1200" baseline="0" dirty="0">
                <a:solidFill>
                  <a:schemeClr val="tx1"/>
                </a:solidFill>
                <a:latin typeface="+mn-lt"/>
                <a:ea typeface="+mn-ea"/>
                <a:cs typeface="+mn-cs"/>
              </a:rPr>
              <a:t>Data</a:t>
            </a:r>
            <a:r>
              <a:rPr lang="en-US" sz="1200" b="0" i="0" u="none" strike="noStrike" kern="1200" baseline="0" dirty="0">
                <a:solidFill>
                  <a:schemeClr val="tx1"/>
                </a:solidFill>
                <a:latin typeface="+mn-lt"/>
                <a:ea typeface="+mn-ea"/>
                <a:cs typeface="+mn-cs"/>
              </a:rPr>
              <a:t> is the raw material that an information system transforms into useful information.</a:t>
            </a:r>
          </a:p>
          <a:p>
            <a:pPr algn="l" rtl="0"/>
            <a:r>
              <a:rPr lang="en-US" sz="1200" b="1" i="0" u="none" strike="noStrike" kern="1200" baseline="0" dirty="0">
                <a:solidFill>
                  <a:schemeClr val="tx1"/>
                </a:solidFill>
                <a:latin typeface="+mn-lt"/>
                <a:ea typeface="+mn-ea"/>
                <a:cs typeface="+mn-cs"/>
              </a:rPr>
              <a:t>Processes </a:t>
            </a:r>
            <a:r>
              <a:rPr lang="en-US" sz="1200" b="0" i="0" u="none" strike="noStrike" kern="1200" baseline="0" dirty="0">
                <a:solidFill>
                  <a:schemeClr val="tx1"/>
                </a:solidFill>
                <a:latin typeface="+mn-lt"/>
                <a:ea typeface="+mn-ea"/>
                <a:cs typeface="+mn-cs"/>
              </a:rPr>
              <a:t>describe the tasks and business functions that users, managers, and IT staff members perform to achieve specific results. Processes are the building blocks of an information system because they represent actual day-to-day business operations. To build a successful information system, analysts must understand business processes and document them carefully.</a:t>
            </a:r>
          </a:p>
          <a:p>
            <a:pPr algn="l" rtl="0"/>
            <a:endParaRPr lang="en-US" dirty="0"/>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3</a:t>
            </a:fld>
            <a:endParaRPr lang="en-US"/>
          </a:p>
        </p:txBody>
      </p:sp>
      <p:sp>
        <p:nvSpPr>
          <p:cNvPr id="5" name="عنصر نائب للتاريخ 4">
            <a:extLst>
              <a:ext uri="{FF2B5EF4-FFF2-40B4-BE49-F238E27FC236}">
                <a16:creationId xmlns:a16="http://schemas.microsoft.com/office/drawing/2014/main" id="{1BB4D643-D2C1-4712-974C-3B6D462D31C8}"/>
              </a:ext>
            </a:extLst>
          </p:cNvPr>
          <p:cNvSpPr>
            <a:spLocks noGrp="1"/>
          </p:cNvSpPr>
          <p:nvPr>
            <p:ph type="dt" idx="1"/>
          </p:nvPr>
        </p:nvSpPr>
        <p:spPr/>
        <p:txBody>
          <a:bodyPr/>
          <a:lstStyle/>
          <a:p>
            <a:fld id="{2F037167-C1E7-400E-A347-41D14B65DD06}"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FF527BF5-5135-4604-971B-9E59C14D5F48}"/>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A2CDD8EB-3F89-4BDD-B1FB-5D242C410E2A}"/>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3456636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endParaRPr lang="en-US" dirty="0"/>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4</a:t>
            </a:fld>
            <a:endParaRPr lang="en-US"/>
          </a:p>
        </p:txBody>
      </p:sp>
      <p:sp>
        <p:nvSpPr>
          <p:cNvPr id="5" name="عنصر نائب للتاريخ 4">
            <a:extLst>
              <a:ext uri="{FF2B5EF4-FFF2-40B4-BE49-F238E27FC236}">
                <a16:creationId xmlns:a16="http://schemas.microsoft.com/office/drawing/2014/main" id="{2E80926B-ED36-4EA0-ADFF-9FD1488C9CAD}"/>
              </a:ext>
            </a:extLst>
          </p:cNvPr>
          <p:cNvSpPr>
            <a:spLocks noGrp="1"/>
          </p:cNvSpPr>
          <p:nvPr>
            <p:ph type="dt" idx="1"/>
          </p:nvPr>
        </p:nvSpPr>
        <p:spPr/>
        <p:txBody>
          <a:bodyPr/>
          <a:lstStyle/>
          <a:p>
            <a:fld id="{D3DCB448-54A2-4B62-A44D-C97BD9E4380E}"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4BF8183A-D9A4-4161-B11D-D93B1F09CE6E}"/>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ED170BC8-8C13-45F3-AD64-1FB6CB3BBB1E}"/>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1918151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endParaRPr lang="en-US" dirty="0"/>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5</a:t>
            </a:fld>
            <a:endParaRPr lang="en-US"/>
          </a:p>
        </p:txBody>
      </p:sp>
      <p:sp>
        <p:nvSpPr>
          <p:cNvPr id="5" name="عنصر نائب للتاريخ 4">
            <a:extLst>
              <a:ext uri="{FF2B5EF4-FFF2-40B4-BE49-F238E27FC236}">
                <a16:creationId xmlns:a16="http://schemas.microsoft.com/office/drawing/2014/main" id="{E9C86D1A-760D-4A91-899E-BC5A5737F115}"/>
              </a:ext>
            </a:extLst>
          </p:cNvPr>
          <p:cNvSpPr>
            <a:spLocks noGrp="1"/>
          </p:cNvSpPr>
          <p:nvPr>
            <p:ph type="dt" idx="1"/>
          </p:nvPr>
        </p:nvSpPr>
        <p:spPr/>
        <p:txBody>
          <a:bodyPr/>
          <a:lstStyle/>
          <a:p>
            <a:fld id="{10852F47-494B-4178-A7DA-0BD9B4D91736}"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9918E0FF-CD24-4DF2-9BC6-CCABD9C6B324}"/>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905D1AED-FB3C-4362-B347-C38A9558E47D}"/>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753695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endParaRPr lang="en-US" dirty="0"/>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6</a:t>
            </a:fld>
            <a:endParaRPr lang="en-US"/>
          </a:p>
        </p:txBody>
      </p:sp>
      <p:sp>
        <p:nvSpPr>
          <p:cNvPr id="5" name="عنصر نائب للتاريخ 4">
            <a:extLst>
              <a:ext uri="{FF2B5EF4-FFF2-40B4-BE49-F238E27FC236}">
                <a16:creationId xmlns:a16="http://schemas.microsoft.com/office/drawing/2014/main" id="{06291A5C-2251-4C0E-BD76-D9B541044BED}"/>
              </a:ext>
            </a:extLst>
          </p:cNvPr>
          <p:cNvSpPr>
            <a:spLocks noGrp="1"/>
          </p:cNvSpPr>
          <p:nvPr>
            <p:ph type="dt" idx="1"/>
          </p:nvPr>
        </p:nvSpPr>
        <p:spPr/>
        <p:txBody>
          <a:bodyPr/>
          <a:lstStyle/>
          <a:p>
            <a:fld id="{9701375C-C08F-4750-84AE-DAA21C9AE83F}"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73E52E08-B318-4AE6-BC1B-BFC455729E89}"/>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DEC410F4-8FEB-4141-A02A-8496B4D866A1}"/>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3074068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7</a:t>
            </a:fld>
            <a:endParaRPr lang="en-US"/>
          </a:p>
        </p:txBody>
      </p:sp>
      <p:sp>
        <p:nvSpPr>
          <p:cNvPr id="5" name="عنصر نائب للتاريخ 4">
            <a:extLst>
              <a:ext uri="{FF2B5EF4-FFF2-40B4-BE49-F238E27FC236}">
                <a16:creationId xmlns:a16="http://schemas.microsoft.com/office/drawing/2014/main" id="{11DA8956-EA0E-4DFE-A7EF-E6CAAC5B765D}"/>
              </a:ext>
            </a:extLst>
          </p:cNvPr>
          <p:cNvSpPr>
            <a:spLocks noGrp="1"/>
          </p:cNvSpPr>
          <p:nvPr>
            <p:ph type="dt" idx="1"/>
          </p:nvPr>
        </p:nvSpPr>
        <p:spPr/>
        <p:txBody>
          <a:bodyPr/>
          <a:lstStyle/>
          <a:p>
            <a:fld id="{1CC26932-43D9-46AA-87B5-19F8175D3F04}"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C9D7B5B5-6951-4090-8E2B-0FFC84AF004F}"/>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34F28D71-0C2A-435A-860F-7F3C4D6FC51B}"/>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3893891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171450" indent="-171450">
              <a:buFont typeface="Arial" panose="020B0604020202020204" pitchFamily="34" charset="0"/>
              <a:buChar char="•"/>
            </a:pPr>
            <a:r>
              <a:rPr lang="ar-SY" dirty="0"/>
              <a:t>مدير القسم</a:t>
            </a:r>
          </a:p>
          <a:p>
            <a:pPr marL="171450" indent="-171450">
              <a:buFont typeface="Arial" panose="020B0604020202020204" pitchFamily="34" charset="0"/>
              <a:buChar char="•"/>
            </a:pPr>
            <a:r>
              <a:rPr lang="ar-SY" dirty="0"/>
              <a:t>مطور التطبيقات: وهو الشخص المسؤول عن عمليات تطوير التطبيقات التي تعمل عليها الشركة من عمليات البرمجة و الصيانة</a:t>
            </a:r>
          </a:p>
          <a:p>
            <a:pPr marL="171450" indent="-171450">
              <a:buFont typeface="Arial" panose="020B0604020202020204" pitchFamily="34" charset="0"/>
              <a:buChar char="•"/>
            </a:pPr>
            <a:r>
              <a:rPr lang="ar-SY" dirty="0"/>
              <a:t>دعم النظم و الامن: هو الشخص المسؤول عن عمليات حماية النظم من الثغرات البرمجية التي يمكن ان تسبب اختراقات داخليه و خارجية للنظام.</a:t>
            </a:r>
          </a:p>
          <a:p>
            <a:pPr marL="171450" indent="-171450">
              <a:buFont typeface="Arial" panose="020B0604020202020204" pitchFamily="34" charset="0"/>
              <a:buChar char="•"/>
            </a:pPr>
            <a:r>
              <a:rPr lang="ar-SY" dirty="0"/>
              <a:t>دعم المستخدمين: وهو الشخص المسؤول عن عمليات الدعم الفني للمستخدمين و مساعدتهم من اجل تلافي المشاكل التي قد تواجههم اثناء القيام </a:t>
            </a:r>
            <a:r>
              <a:rPr lang="ar-SY" dirty="0" err="1"/>
              <a:t>بالاعمال</a:t>
            </a:r>
            <a:r>
              <a:rPr lang="ar-SY" dirty="0"/>
              <a:t>.</a:t>
            </a:r>
          </a:p>
          <a:p>
            <a:pPr marL="171450" indent="-171450">
              <a:buFont typeface="Arial" panose="020B0604020202020204" pitchFamily="34" charset="0"/>
              <a:buChar char="•"/>
            </a:pPr>
            <a:r>
              <a:rPr lang="ar-SY" dirty="0"/>
              <a:t>مدير قواعد البيانات: هو المسؤول عن إدارة قاعدة بيانات الشركة ممن عمليات النسخ الاحتياطي و الاستعادة و حل المشاكل التي توقف عملية تطوير قاعدة البيانات و توسعها.</a:t>
            </a:r>
          </a:p>
          <a:p>
            <a:pPr marL="171450" indent="-171450">
              <a:buFont typeface="Arial" panose="020B0604020202020204" pitchFamily="34" charset="0"/>
              <a:buChar char="•"/>
            </a:pPr>
            <a:r>
              <a:rPr lang="ar-SY" dirty="0"/>
              <a:t>مدير الشبكة: هو المسؤول عن إدارة مخدمات الشبكة و باقي الأجهزة التي تعمل على الشبكة و صيانتها و توزيع صلاحيات و هو المسمى الوظيفي الأكثر انتشارا ضمن الشركات.</a:t>
            </a:r>
          </a:p>
          <a:p>
            <a:pPr marL="171450" indent="-171450">
              <a:buFont typeface="Arial" panose="020B0604020202020204" pitchFamily="34" charset="0"/>
              <a:buChar char="•"/>
            </a:pPr>
            <a:r>
              <a:rPr lang="ar-SY" dirty="0"/>
              <a:t>دعم الويب: هو المسؤول عن موقع الشركة على شبكة الانترنت.</a:t>
            </a:r>
          </a:p>
          <a:p>
            <a:pPr marL="171450" indent="-171450">
              <a:buFont typeface="Arial" panose="020B0604020202020204" pitchFamily="34" charset="0"/>
              <a:buChar char="•"/>
            </a:pPr>
            <a:r>
              <a:rPr lang="ar-SY" dirty="0"/>
              <a:t>ضمان الجودة.</a:t>
            </a:r>
            <a:endParaRPr lang="en-US" dirty="0"/>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8</a:t>
            </a:fld>
            <a:endParaRPr lang="en-US"/>
          </a:p>
        </p:txBody>
      </p:sp>
      <p:sp>
        <p:nvSpPr>
          <p:cNvPr id="5" name="عنصر نائب للتاريخ 4">
            <a:extLst>
              <a:ext uri="{FF2B5EF4-FFF2-40B4-BE49-F238E27FC236}">
                <a16:creationId xmlns:a16="http://schemas.microsoft.com/office/drawing/2014/main" id="{5BD8D6AA-C3AB-48E4-88A4-3DF14C7D1A1D}"/>
              </a:ext>
            </a:extLst>
          </p:cNvPr>
          <p:cNvSpPr>
            <a:spLocks noGrp="1"/>
          </p:cNvSpPr>
          <p:nvPr>
            <p:ph type="dt" idx="1"/>
          </p:nvPr>
        </p:nvSpPr>
        <p:spPr/>
        <p:txBody>
          <a:bodyPr/>
          <a:lstStyle/>
          <a:p>
            <a:fld id="{0FE70C00-6B6C-4E3D-9376-7BC9BB216311}"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12561031-2510-4DDB-BF7E-7F120456696F}"/>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0A7C5A8D-F6DF-4C2A-B837-BD651D128C39}"/>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2406366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9</a:t>
            </a:fld>
            <a:endParaRPr lang="en-US"/>
          </a:p>
        </p:txBody>
      </p:sp>
      <p:sp>
        <p:nvSpPr>
          <p:cNvPr id="5" name="عنصر نائب للتاريخ 4">
            <a:extLst>
              <a:ext uri="{FF2B5EF4-FFF2-40B4-BE49-F238E27FC236}">
                <a16:creationId xmlns:a16="http://schemas.microsoft.com/office/drawing/2014/main" id="{8473B217-D173-41D2-8E64-65FD945E803D}"/>
              </a:ext>
            </a:extLst>
          </p:cNvPr>
          <p:cNvSpPr>
            <a:spLocks noGrp="1"/>
          </p:cNvSpPr>
          <p:nvPr>
            <p:ph type="dt" idx="1"/>
          </p:nvPr>
        </p:nvSpPr>
        <p:spPr/>
        <p:txBody>
          <a:bodyPr/>
          <a:lstStyle/>
          <a:p>
            <a:fld id="{B311EC2D-5135-4E15-BBFC-B3FAB252DCEB}"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B7F6E2E6-057B-482A-89BE-C629F0126E05}"/>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F72C1C92-BD64-4DA9-B2E9-DEE603466A06}"/>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1905377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10</a:t>
            </a:fld>
            <a:endParaRPr lang="en-US"/>
          </a:p>
        </p:txBody>
      </p:sp>
      <p:sp>
        <p:nvSpPr>
          <p:cNvPr id="5" name="عنصر نائب للتاريخ 4">
            <a:extLst>
              <a:ext uri="{FF2B5EF4-FFF2-40B4-BE49-F238E27FC236}">
                <a16:creationId xmlns:a16="http://schemas.microsoft.com/office/drawing/2014/main" id="{0685D2CD-318A-43F0-8733-3EFE64E16439}"/>
              </a:ext>
            </a:extLst>
          </p:cNvPr>
          <p:cNvSpPr>
            <a:spLocks noGrp="1"/>
          </p:cNvSpPr>
          <p:nvPr>
            <p:ph type="dt" idx="1"/>
          </p:nvPr>
        </p:nvSpPr>
        <p:spPr/>
        <p:txBody>
          <a:bodyPr/>
          <a:lstStyle/>
          <a:p>
            <a:fld id="{A19BA4A0-88FC-42E6-8356-E02181AECE1B}"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ADFE9921-D594-40E2-8E8A-75895EDF0874}"/>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F9C98579-037A-4CF4-ABF5-5A47B5439EDD}"/>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1496760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SY" dirty="0"/>
              <a:t>للإجابة على الأسئلة يتم التالي:</a:t>
            </a:r>
          </a:p>
          <a:p>
            <a:pPr marL="228600" indent="-228600">
              <a:buFont typeface="+mj-lt"/>
              <a:buAutoNum type="arabicPeriod"/>
            </a:pPr>
            <a:r>
              <a:rPr lang="ar-SY" dirty="0"/>
              <a:t>تبرير الأسباب الموجبة للقيام بالمشروع</a:t>
            </a:r>
          </a:p>
          <a:p>
            <a:pPr marL="228600" indent="-228600">
              <a:buFont typeface="+mj-lt"/>
              <a:buAutoNum type="arabicPeriod"/>
            </a:pPr>
            <a:r>
              <a:rPr lang="ar-SY" dirty="0"/>
              <a:t>تحديد محتويات المشروع التي سيقدمها كحلول للمشاكل الموردة في السؤال الأول</a:t>
            </a:r>
          </a:p>
          <a:p>
            <a:pPr marL="228600" indent="-228600">
              <a:buFont typeface="+mj-lt"/>
              <a:buAutoNum type="arabicPeriod"/>
            </a:pPr>
            <a:r>
              <a:rPr lang="ar-SY" dirty="0"/>
              <a:t>وهو شرح كيفية ربط المشروع </a:t>
            </a:r>
            <a:r>
              <a:rPr lang="ar-SY" dirty="0" err="1"/>
              <a:t>معالواقع</a:t>
            </a:r>
            <a:r>
              <a:rPr lang="ar-SY" dirty="0"/>
              <a:t> العملي الذي يستهدفه</a:t>
            </a:r>
          </a:p>
          <a:p>
            <a:pPr marL="228600" indent="-228600">
              <a:buFont typeface="+mj-lt"/>
              <a:buAutoNum type="arabicPeriod"/>
            </a:pPr>
            <a:r>
              <a:rPr lang="ar-SY" dirty="0"/>
              <a:t>شرح كل التكاليف (معدات – يد عاملة – برمجيات) و المدة </a:t>
            </a:r>
          </a:p>
          <a:p>
            <a:pPr marL="228600" indent="-228600">
              <a:buFont typeface="+mj-lt"/>
              <a:buAutoNum type="arabicPeriod"/>
            </a:pPr>
            <a:r>
              <a:rPr lang="ar-SY" dirty="0"/>
              <a:t>شرح الفترة الانتقالية من المشروع الحالي الى المشروع المقترح من عمليات تدريب و تعديل مستندات </a:t>
            </a:r>
          </a:p>
          <a:p>
            <a:pPr marL="228600" indent="-228600">
              <a:buFont typeface="+mj-lt"/>
              <a:buAutoNum type="arabicPeriod"/>
            </a:pPr>
            <a:r>
              <a:rPr lang="ar-SY" dirty="0"/>
              <a:t>شرح الفوائد المادية و الوقت المقدر للبدء بها</a:t>
            </a:r>
          </a:p>
          <a:p>
            <a:pPr marL="228600" indent="-228600">
              <a:buFont typeface="+mj-lt"/>
              <a:buAutoNum type="arabicPeriod"/>
            </a:pPr>
            <a:r>
              <a:rPr lang="ar-SY" dirty="0"/>
              <a:t>العقبات التي تواجه المشروع الجديد في حال تنفيذه, و المشاكل التي ستواجه الشركة في حال عدم تنفيذه</a:t>
            </a:r>
          </a:p>
          <a:p>
            <a:pPr marL="228600" indent="-228600">
              <a:buFont typeface="+mj-lt"/>
              <a:buAutoNum type="arabicPeriod"/>
            </a:pPr>
            <a:r>
              <a:rPr lang="ar-SY" dirty="0"/>
              <a:t>مقاييس النجاح (مال – وقت – تخفيض يد عاملة)</a:t>
            </a:r>
          </a:p>
          <a:p>
            <a:pPr marL="228600" indent="-228600">
              <a:buFont typeface="+mj-lt"/>
              <a:buAutoNum type="arabicPeriod"/>
            </a:pPr>
            <a:r>
              <a:rPr lang="ar-SY" dirty="0"/>
              <a:t>في حال وجود حلول جاهزة للمشروع و ما هي</a:t>
            </a:r>
            <a:endParaRPr lang="en-US" dirty="0"/>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11</a:t>
            </a:fld>
            <a:endParaRPr lang="en-US"/>
          </a:p>
        </p:txBody>
      </p:sp>
      <p:sp>
        <p:nvSpPr>
          <p:cNvPr id="5" name="عنصر نائب للتاريخ 4">
            <a:extLst>
              <a:ext uri="{FF2B5EF4-FFF2-40B4-BE49-F238E27FC236}">
                <a16:creationId xmlns:a16="http://schemas.microsoft.com/office/drawing/2014/main" id="{C95A9173-AD1C-493B-9C96-B4596849ECE7}"/>
              </a:ext>
            </a:extLst>
          </p:cNvPr>
          <p:cNvSpPr>
            <a:spLocks noGrp="1"/>
          </p:cNvSpPr>
          <p:nvPr>
            <p:ph type="dt" idx="1"/>
          </p:nvPr>
        </p:nvSpPr>
        <p:spPr/>
        <p:txBody>
          <a:bodyPr/>
          <a:lstStyle/>
          <a:p>
            <a:fld id="{36AF4261-35FF-4720-8CBA-609A0B554B03}"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8F39448F-8083-426C-9E68-A2781ECD8C46}"/>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4F4474DF-31AE-4F06-8064-DC4952E58FBD}"/>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3499846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12</a:t>
            </a:fld>
            <a:endParaRPr lang="en-US"/>
          </a:p>
        </p:txBody>
      </p:sp>
      <p:sp>
        <p:nvSpPr>
          <p:cNvPr id="5" name="عنصر نائب للتاريخ 4">
            <a:extLst>
              <a:ext uri="{FF2B5EF4-FFF2-40B4-BE49-F238E27FC236}">
                <a16:creationId xmlns:a16="http://schemas.microsoft.com/office/drawing/2014/main" id="{17125B47-59BB-4310-8B78-9C055D442958}"/>
              </a:ext>
            </a:extLst>
          </p:cNvPr>
          <p:cNvSpPr>
            <a:spLocks noGrp="1"/>
          </p:cNvSpPr>
          <p:nvPr>
            <p:ph type="dt" idx="1"/>
          </p:nvPr>
        </p:nvSpPr>
        <p:spPr/>
        <p:txBody>
          <a:bodyPr/>
          <a:lstStyle/>
          <a:p>
            <a:fld id="{021F1021-1041-44BD-8178-30C496484941}"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4684C5D0-A33D-47F1-836C-6B1011ED58A7}"/>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19727D70-06AB-46DB-8A85-3133EF53E4A8}"/>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1206273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5"/>
          </p:nvPr>
        </p:nvSpPr>
        <p:spPr/>
        <p:txBody>
          <a:bodyPr/>
          <a:lstStyle/>
          <a:p>
            <a:fld id="{CDD2AA5D-7EA2-42A2-84AA-4A661D9CB6BA}" type="slidenum">
              <a:rPr lang="en-US" smtClean="0"/>
              <a:t>13</a:t>
            </a:fld>
            <a:endParaRPr lang="en-US"/>
          </a:p>
        </p:txBody>
      </p:sp>
      <p:sp>
        <p:nvSpPr>
          <p:cNvPr id="5" name="عنصر نائب للتاريخ 4">
            <a:extLst>
              <a:ext uri="{FF2B5EF4-FFF2-40B4-BE49-F238E27FC236}">
                <a16:creationId xmlns:a16="http://schemas.microsoft.com/office/drawing/2014/main" id="{6A188A1C-A609-4F40-97EF-0DF2BD8A321C}"/>
              </a:ext>
            </a:extLst>
          </p:cNvPr>
          <p:cNvSpPr>
            <a:spLocks noGrp="1"/>
          </p:cNvSpPr>
          <p:nvPr>
            <p:ph type="dt" idx="1"/>
          </p:nvPr>
        </p:nvSpPr>
        <p:spPr/>
        <p:txBody>
          <a:bodyPr/>
          <a:lstStyle/>
          <a:p>
            <a:fld id="{19A3E629-7828-4F01-97A0-B5FAE9071CAA}" type="datetime8">
              <a:rPr lang="ar-SY" smtClean="0"/>
              <a:t>12 نيسان، 26</a:t>
            </a:fld>
            <a:endParaRPr lang="en-US"/>
          </a:p>
        </p:txBody>
      </p:sp>
      <p:sp>
        <p:nvSpPr>
          <p:cNvPr id="6" name="عنصر نائب للتذييل 5">
            <a:extLst>
              <a:ext uri="{FF2B5EF4-FFF2-40B4-BE49-F238E27FC236}">
                <a16:creationId xmlns:a16="http://schemas.microsoft.com/office/drawing/2014/main" id="{539C3B8B-83C7-42BC-9B04-E433B7C1518A}"/>
              </a:ext>
            </a:extLst>
          </p:cNvPr>
          <p:cNvSpPr>
            <a:spLocks noGrp="1"/>
          </p:cNvSpPr>
          <p:nvPr>
            <p:ph type="ftr" sz="quarter" idx="4"/>
          </p:nvPr>
        </p:nvSpPr>
        <p:spPr/>
        <p:txBody>
          <a:bodyPr/>
          <a:lstStyle/>
          <a:p>
            <a:r>
              <a:rPr lang="ar-SY"/>
              <a:t>م.احمد احمد - م.كلودا ابراهيم - م.نغم فاضل</a:t>
            </a:r>
            <a:endParaRPr lang="en-US"/>
          </a:p>
        </p:txBody>
      </p:sp>
      <p:sp>
        <p:nvSpPr>
          <p:cNvPr id="7" name="عنصر نائب للرأس 6">
            <a:extLst>
              <a:ext uri="{FF2B5EF4-FFF2-40B4-BE49-F238E27FC236}">
                <a16:creationId xmlns:a16="http://schemas.microsoft.com/office/drawing/2014/main" id="{4BE4689C-49F9-4C33-BDBC-8FB68768EDE4}"/>
              </a:ext>
            </a:extLst>
          </p:cNvPr>
          <p:cNvSpPr>
            <a:spLocks noGrp="1"/>
          </p:cNvSpPr>
          <p:nvPr>
            <p:ph type="hdr" sz="quarter"/>
          </p:nvPr>
        </p:nvSpPr>
        <p:spPr/>
        <p:txBody>
          <a:bodyPr/>
          <a:lstStyle/>
          <a:p>
            <a:r>
              <a:rPr lang="ar-SY"/>
              <a:t>ادارة نظم المعلومات - عملي - محاضرة 1</a:t>
            </a:r>
            <a:endParaRPr lang="en-US"/>
          </a:p>
        </p:txBody>
      </p:sp>
    </p:spTree>
    <p:extLst>
      <p:ext uri="{BB962C8B-B14F-4D97-AF65-F5344CB8AC3E}">
        <p14:creationId xmlns:p14="http://schemas.microsoft.com/office/powerpoint/2010/main" val="71305681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p>
            <a:fld id="{4715490B-4B4D-4C79-96F1-19A9AB61AD6F}"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2CCE190-E288-4FAE-B2C2-E9F20F724A24}" type="slidenum">
              <a:rPr lang="en-US" smtClean="0"/>
              <a:t>‹#›</a:t>
            </a:fld>
            <a:endParaRPr lang="en-US"/>
          </a:p>
        </p:txBody>
      </p:sp>
    </p:spTree>
    <p:extLst>
      <p:ext uri="{BB962C8B-B14F-4D97-AF65-F5344CB8AC3E}">
        <p14:creationId xmlns:p14="http://schemas.microsoft.com/office/powerpoint/2010/main" val="3607156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1A69A8CA-B7D1-4D52-8B70-2AC5554C5282}"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282778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a:xfrm>
            <a:off x="8593667" y="6272784"/>
            <a:ext cx="2644309" cy="365125"/>
          </a:xfrm>
        </p:spPr>
        <p:txBody>
          <a:bodyPr/>
          <a:lstStyle/>
          <a:p>
            <a:fld id="{C963B7AE-B5FC-449B-9ECB-FE6809D89D4B}" type="datetime1">
              <a:rPr lang="en-US" smtClean="0"/>
              <a:t>4/12/2026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2CCE190-E288-4FAE-B2C2-E9F20F724A24}" type="slidenum">
              <a:rPr lang="en-US" smtClean="0"/>
              <a:t>‹#›</a:t>
            </a:fld>
            <a:endParaRPr lang="en-US"/>
          </a:p>
        </p:txBody>
      </p:sp>
    </p:spTree>
    <p:extLst>
      <p:ext uri="{BB962C8B-B14F-4D97-AF65-F5344CB8AC3E}">
        <p14:creationId xmlns:p14="http://schemas.microsoft.com/office/powerpoint/2010/main" val="2778349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E8B3B19B-922E-49F7-869A-4A223C14B11E}" type="datetime1">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287917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9ADC0BAC-FFBE-41A1-80D0-0429E72F5C8E}" type="datetime1">
              <a:rPr lang="en-US" smtClean="0"/>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2178991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C8C6DDD8-9D61-4D06-85CB-272C5EE22EC3}" type="datetime1">
              <a:rPr lang="en-US" smtClean="0"/>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152771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32EFA2-44FF-4C88-A952-C9D991BE7FBB}" type="datetime1">
              <a:rPr lang="en-US" smtClean="0"/>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2902300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محتوى مع تسمية توضيحية">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EBF4D896-F12C-4EF3-9CFB-512FA2F2774D}" type="datetime1">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3034027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8047251E-9D23-4C6B-821A-91243B17BD84}" type="datetime1">
              <a:rPr lang="en-US" smtClean="0"/>
              <a:t>4/12/2026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2980487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8BA3884F-20DD-44D3-8BB6-D573F2586675}"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197693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D57D431A-FC1E-4416-A2A4-163FA71E9578}"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CCE190-E288-4FAE-B2C2-E9F20F724A24}" type="slidenum">
              <a:rPr lang="en-US" smtClean="0"/>
              <a:t>‹#›</a:t>
            </a:fld>
            <a:endParaRPr lang="en-US"/>
          </a:p>
        </p:txBody>
      </p:sp>
    </p:spTree>
    <p:extLst>
      <p:ext uri="{BB962C8B-B14F-4D97-AF65-F5344CB8AC3E}">
        <p14:creationId xmlns:p14="http://schemas.microsoft.com/office/powerpoint/2010/main" val="256402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EE4D3A96-72F1-48CE-96E9-4156E2004A13}" type="datetime1">
              <a:rPr lang="en-US" smtClean="0"/>
              <a:t>4/12/2026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2CCE190-E288-4FAE-B2C2-E9F20F724A24}" type="slidenum">
              <a:rPr lang="en-US" smtClean="0"/>
              <a:t>‹#›</a:t>
            </a:fld>
            <a:endParaRPr lang="en-US"/>
          </a:p>
        </p:txBody>
      </p:sp>
    </p:spTree>
    <p:extLst>
      <p:ext uri="{BB962C8B-B14F-4D97-AF65-F5344CB8AC3E}">
        <p14:creationId xmlns:p14="http://schemas.microsoft.com/office/powerpoint/2010/main" val="1199735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6852181-9F5B-4E00-A1D4-0DC08377980C}"/>
              </a:ext>
            </a:extLst>
          </p:cNvPr>
          <p:cNvSpPr>
            <a:spLocks noGrp="1"/>
          </p:cNvSpPr>
          <p:nvPr>
            <p:ph type="ctrTitle"/>
          </p:nvPr>
        </p:nvSpPr>
        <p:spPr/>
        <p:txBody>
          <a:bodyPr/>
          <a:lstStyle/>
          <a:p>
            <a:pPr algn="r" rtl="1"/>
            <a:r>
              <a:rPr lang="ar-SY" dirty="0"/>
              <a:t>إدارة نظم  المعلومات	</a:t>
            </a:r>
            <a:endParaRPr lang="en-US" dirty="0"/>
          </a:p>
        </p:txBody>
      </p:sp>
      <p:sp>
        <p:nvSpPr>
          <p:cNvPr id="3" name="عنوان فرعي 2">
            <a:extLst>
              <a:ext uri="{FF2B5EF4-FFF2-40B4-BE49-F238E27FC236}">
                <a16:creationId xmlns:a16="http://schemas.microsoft.com/office/drawing/2014/main" id="{4918AA2E-200A-4064-9C40-0860CF669080}"/>
              </a:ext>
            </a:extLst>
          </p:cNvPr>
          <p:cNvSpPr>
            <a:spLocks noGrp="1"/>
          </p:cNvSpPr>
          <p:nvPr>
            <p:ph type="subTitle" idx="1"/>
          </p:nvPr>
        </p:nvSpPr>
        <p:spPr/>
        <p:txBody>
          <a:bodyPr/>
          <a:lstStyle/>
          <a:p>
            <a:pPr algn="r" rtl="1"/>
            <a:r>
              <a:rPr lang="ar-SY" dirty="0"/>
              <a:t>المحاضرة الأولى عملي</a:t>
            </a:r>
          </a:p>
        </p:txBody>
      </p:sp>
      <p:sp>
        <p:nvSpPr>
          <p:cNvPr id="4" name="عنصر نائب لرقم الشريحة 3">
            <a:extLst>
              <a:ext uri="{FF2B5EF4-FFF2-40B4-BE49-F238E27FC236}">
                <a16:creationId xmlns:a16="http://schemas.microsoft.com/office/drawing/2014/main" id="{85908DA5-B2CE-420E-936C-7B3A503EE5E7}"/>
              </a:ext>
            </a:extLst>
          </p:cNvPr>
          <p:cNvSpPr>
            <a:spLocks noGrp="1"/>
          </p:cNvSpPr>
          <p:nvPr>
            <p:ph type="sldNum" sz="quarter" idx="12"/>
          </p:nvPr>
        </p:nvSpPr>
        <p:spPr/>
        <p:txBody>
          <a:bodyPr/>
          <a:lstStyle/>
          <a:p>
            <a:fld id="{F2CCE190-E288-4FAE-B2C2-E9F20F724A24}" type="slidenum">
              <a:rPr lang="en-US" smtClean="0"/>
              <a:t>1</a:t>
            </a:fld>
            <a:endParaRPr lang="en-US"/>
          </a:p>
        </p:txBody>
      </p:sp>
    </p:spTree>
    <p:extLst>
      <p:ext uri="{BB962C8B-B14F-4D97-AF65-F5344CB8AC3E}">
        <p14:creationId xmlns:p14="http://schemas.microsoft.com/office/powerpoint/2010/main" val="379627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1763A11-3546-4360-A5F2-BF4738D32EC1}"/>
              </a:ext>
            </a:extLst>
          </p:cNvPr>
          <p:cNvSpPr>
            <a:spLocks noGrp="1"/>
          </p:cNvSpPr>
          <p:nvPr>
            <p:ph type="title"/>
          </p:nvPr>
        </p:nvSpPr>
        <p:spPr/>
        <p:txBody>
          <a:bodyPr/>
          <a:lstStyle/>
          <a:p>
            <a:pPr algn="r" rtl="1"/>
            <a:r>
              <a:rPr lang="ar-SY" dirty="0"/>
              <a:t>مقدمة الى تحليل و تصميم نظم المعلومات</a:t>
            </a:r>
            <a:endParaRPr lang="en-US" dirty="0"/>
          </a:p>
        </p:txBody>
      </p:sp>
      <p:sp>
        <p:nvSpPr>
          <p:cNvPr id="4" name="عنصر نائب لرقم الشريحة 3">
            <a:extLst>
              <a:ext uri="{FF2B5EF4-FFF2-40B4-BE49-F238E27FC236}">
                <a16:creationId xmlns:a16="http://schemas.microsoft.com/office/drawing/2014/main" id="{8B0377AF-22B5-489B-AB61-754CB78B46CC}"/>
              </a:ext>
            </a:extLst>
          </p:cNvPr>
          <p:cNvSpPr>
            <a:spLocks noGrp="1"/>
          </p:cNvSpPr>
          <p:nvPr>
            <p:ph type="sldNum" sz="quarter" idx="12"/>
          </p:nvPr>
        </p:nvSpPr>
        <p:spPr/>
        <p:txBody>
          <a:bodyPr/>
          <a:lstStyle/>
          <a:p>
            <a:fld id="{F2CCE190-E288-4FAE-B2C2-E9F20F724A24}" type="slidenum">
              <a:rPr lang="en-US" smtClean="0"/>
              <a:t>2</a:t>
            </a:fld>
            <a:endParaRPr lang="en-US"/>
          </a:p>
        </p:txBody>
      </p:sp>
    </p:spTree>
    <p:extLst>
      <p:ext uri="{BB962C8B-B14F-4D97-AF65-F5344CB8AC3E}">
        <p14:creationId xmlns:p14="http://schemas.microsoft.com/office/powerpoint/2010/main" val="3745358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54A5E93-077F-435B-B412-1A29B3395F0B}"/>
              </a:ext>
            </a:extLst>
          </p:cNvPr>
          <p:cNvSpPr>
            <a:spLocks noGrp="1"/>
          </p:cNvSpPr>
          <p:nvPr>
            <p:ph type="title"/>
          </p:nvPr>
        </p:nvSpPr>
        <p:spPr/>
        <p:txBody>
          <a:bodyPr/>
          <a:lstStyle/>
          <a:p>
            <a:pPr algn="r" rtl="1"/>
            <a:r>
              <a:rPr lang="ar-SY" dirty="0"/>
              <a:t>مكونات نظام المعلومات</a:t>
            </a:r>
            <a:endParaRPr lang="en-US" dirty="0"/>
          </a:p>
        </p:txBody>
      </p:sp>
      <p:sp>
        <p:nvSpPr>
          <p:cNvPr id="3" name="عنصر نائب للمحتوى 2">
            <a:extLst>
              <a:ext uri="{FF2B5EF4-FFF2-40B4-BE49-F238E27FC236}">
                <a16:creationId xmlns:a16="http://schemas.microsoft.com/office/drawing/2014/main" id="{72A42B24-3EC8-4FE3-B9E2-CC528897D90F}"/>
              </a:ext>
            </a:extLst>
          </p:cNvPr>
          <p:cNvSpPr>
            <a:spLocks noGrp="1"/>
          </p:cNvSpPr>
          <p:nvPr>
            <p:ph idx="1"/>
          </p:nvPr>
        </p:nvSpPr>
        <p:spPr/>
        <p:txBody>
          <a:bodyPr/>
          <a:lstStyle/>
          <a:p>
            <a:pPr algn="r" rtl="1"/>
            <a:r>
              <a:rPr lang="en-US" dirty="0"/>
              <a:t>Hardware</a:t>
            </a:r>
          </a:p>
          <a:p>
            <a:pPr algn="r" rtl="1"/>
            <a:r>
              <a:rPr lang="en-US" dirty="0"/>
              <a:t>Software</a:t>
            </a:r>
          </a:p>
          <a:p>
            <a:pPr algn="r" rtl="1"/>
            <a:r>
              <a:rPr lang="en-US" dirty="0"/>
              <a:t>Data</a:t>
            </a:r>
          </a:p>
          <a:p>
            <a:pPr algn="r" rtl="1"/>
            <a:r>
              <a:rPr lang="en-US" dirty="0"/>
              <a:t>Processes</a:t>
            </a:r>
          </a:p>
          <a:p>
            <a:pPr algn="r" rtl="1"/>
            <a:r>
              <a:rPr lang="en-US" dirty="0"/>
              <a:t>People</a:t>
            </a:r>
          </a:p>
        </p:txBody>
      </p:sp>
      <p:sp>
        <p:nvSpPr>
          <p:cNvPr id="4" name="عنصر نائب لرقم الشريحة 3">
            <a:extLst>
              <a:ext uri="{FF2B5EF4-FFF2-40B4-BE49-F238E27FC236}">
                <a16:creationId xmlns:a16="http://schemas.microsoft.com/office/drawing/2014/main" id="{C501CC39-F0AF-42F9-B929-992990870488}"/>
              </a:ext>
            </a:extLst>
          </p:cNvPr>
          <p:cNvSpPr>
            <a:spLocks noGrp="1"/>
          </p:cNvSpPr>
          <p:nvPr>
            <p:ph type="sldNum" sz="quarter" idx="12"/>
          </p:nvPr>
        </p:nvSpPr>
        <p:spPr/>
        <p:txBody>
          <a:bodyPr/>
          <a:lstStyle/>
          <a:p>
            <a:fld id="{F2CCE190-E288-4FAE-B2C2-E9F20F724A24}" type="slidenum">
              <a:rPr lang="en-US" smtClean="0"/>
              <a:t>3</a:t>
            </a:fld>
            <a:endParaRPr lang="en-US"/>
          </a:p>
        </p:txBody>
      </p:sp>
      <p:pic>
        <p:nvPicPr>
          <p:cNvPr id="5" name="صورة 4">
            <a:extLst>
              <a:ext uri="{FF2B5EF4-FFF2-40B4-BE49-F238E27FC236}">
                <a16:creationId xmlns:a16="http://schemas.microsoft.com/office/drawing/2014/main" id="{E9A70D80-AFB3-488E-964D-C59A35F2183F}"/>
              </a:ext>
            </a:extLst>
          </p:cNvPr>
          <p:cNvPicPr>
            <a:picLocks noChangeAspect="1"/>
          </p:cNvPicPr>
          <p:nvPr/>
        </p:nvPicPr>
        <p:blipFill>
          <a:blip r:embed="rId3"/>
          <a:stretch>
            <a:fillRect/>
          </a:stretch>
        </p:blipFill>
        <p:spPr>
          <a:xfrm>
            <a:off x="1063752" y="1252070"/>
            <a:ext cx="3416808" cy="4353859"/>
          </a:xfrm>
          <a:prstGeom prst="rect">
            <a:avLst/>
          </a:prstGeom>
        </p:spPr>
      </p:pic>
    </p:spTree>
    <p:extLst>
      <p:ext uri="{BB962C8B-B14F-4D97-AF65-F5344CB8AC3E}">
        <p14:creationId xmlns:p14="http://schemas.microsoft.com/office/powerpoint/2010/main" val="1817664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54A5E93-077F-435B-B412-1A29B3395F0B}"/>
              </a:ext>
            </a:extLst>
          </p:cNvPr>
          <p:cNvSpPr>
            <a:spLocks noGrp="1"/>
          </p:cNvSpPr>
          <p:nvPr>
            <p:ph type="title"/>
          </p:nvPr>
        </p:nvSpPr>
        <p:spPr/>
        <p:txBody>
          <a:bodyPr/>
          <a:lstStyle/>
          <a:p>
            <a:pPr algn="r" rtl="1"/>
            <a:r>
              <a:rPr lang="ar-SY" dirty="0"/>
              <a:t>نظام المعلومات و الاعمال</a:t>
            </a:r>
            <a:endParaRPr lang="en-US" dirty="0"/>
          </a:p>
        </p:txBody>
      </p:sp>
      <p:sp>
        <p:nvSpPr>
          <p:cNvPr id="3" name="عنصر نائب للمحتوى 2">
            <a:extLst>
              <a:ext uri="{FF2B5EF4-FFF2-40B4-BE49-F238E27FC236}">
                <a16:creationId xmlns:a16="http://schemas.microsoft.com/office/drawing/2014/main" id="{72A42B24-3EC8-4FE3-B9E2-CC528897D90F}"/>
              </a:ext>
            </a:extLst>
          </p:cNvPr>
          <p:cNvSpPr>
            <a:spLocks noGrp="1"/>
          </p:cNvSpPr>
          <p:nvPr>
            <p:ph idx="1"/>
          </p:nvPr>
        </p:nvSpPr>
        <p:spPr/>
        <p:txBody>
          <a:bodyPr/>
          <a:lstStyle/>
          <a:p>
            <a:pPr algn="r" rtl="1"/>
            <a:r>
              <a:rPr lang="ar-SY" dirty="0"/>
              <a:t>بهدف تصميم نظام معلومات لعمل معين, يجب على محلل النظام ان يفهم طبيعة عمل الشركة التي يصمم </a:t>
            </a:r>
            <a:r>
              <a:rPr lang="ar-SY" dirty="0" err="1"/>
              <a:t>لاجلها</a:t>
            </a:r>
            <a:r>
              <a:rPr lang="ar-SY" dirty="0"/>
              <a:t>.</a:t>
            </a:r>
          </a:p>
          <a:p>
            <a:pPr algn="r" rtl="1"/>
            <a:r>
              <a:rPr lang="ar-SY" dirty="0"/>
              <a:t>يتم تأطير الاعمال </a:t>
            </a:r>
            <a:r>
              <a:rPr lang="ar-SY"/>
              <a:t>ضمن </a:t>
            </a:r>
            <a:r>
              <a:rPr lang="ar-SY" smtClean="0"/>
              <a:t> </a:t>
            </a:r>
            <a:r>
              <a:rPr lang="ar-SY" dirty="0"/>
              <a:t>أصناف أساسية</a:t>
            </a:r>
          </a:p>
          <a:p>
            <a:pPr lvl="1" algn="r" rtl="1"/>
            <a:r>
              <a:rPr lang="ar-SY" dirty="0" smtClean="0"/>
              <a:t>نموذج </a:t>
            </a:r>
            <a:r>
              <a:rPr lang="en-US" dirty="0"/>
              <a:t>B2C</a:t>
            </a:r>
          </a:p>
          <a:p>
            <a:pPr lvl="1" algn="r" rtl="1"/>
            <a:r>
              <a:rPr lang="ar-SY" dirty="0"/>
              <a:t>نموذج </a:t>
            </a:r>
            <a:r>
              <a:rPr lang="en-US" dirty="0"/>
              <a:t>B2B</a:t>
            </a:r>
          </a:p>
        </p:txBody>
      </p:sp>
      <p:sp>
        <p:nvSpPr>
          <p:cNvPr id="4" name="عنصر نائب لرقم الشريحة 3">
            <a:extLst>
              <a:ext uri="{FF2B5EF4-FFF2-40B4-BE49-F238E27FC236}">
                <a16:creationId xmlns:a16="http://schemas.microsoft.com/office/drawing/2014/main" id="{C501CC39-F0AF-42F9-B929-992990870488}"/>
              </a:ext>
            </a:extLst>
          </p:cNvPr>
          <p:cNvSpPr>
            <a:spLocks noGrp="1"/>
          </p:cNvSpPr>
          <p:nvPr>
            <p:ph type="sldNum" sz="quarter" idx="12"/>
          </p:nvPr>
        </p:nvSpPr>
        <p:spPr/>
        <p:txBody>
          <a:bodyPr/>
          <a:lstStyle/>
          <a:p>
            <a:fld id="{F2CCE190-E288-4FAE-B2C2-E9F20F724A24}" type="slidenum">
              <a:rPr lang="en-US" smtClean="0"/>
              <a:t>4</a:t>
            </a:fld>
            <a:endParaRPr lang="en-US"/>
          </a:p>
        </p:txBody>
      </p:sp>
    </p:spTree>
    <p:extLst>
      <p:ext uri="{BB962C8B-B14F-4D97-AF65-F5344CB8AC3E}">
        <p14:creationId xmlns:p14="http://schemas.microsoft.com/office/powerpoint/2010/main" val="44061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54A5E93-077F-435B-B412-1A29B3395F0B}"/>
              </a:ext>
            </a:extLst>
          </p:cNvPr>
          <p:cNvSpPr>
            <a:spLocks noGrp="1"/>
          </p:cNvSpPr>
          <p:nvPr>
            <p:ph type="title"/>
          </p:nvPr>
        </p:nvSpPr>
        <p:spPr/>
        <p:txBody>
          <a:bodyPr/>
          <a:lstStyle/>
          <a:p>
            <a:pPr algn="r" rtl="1"/>
            <a:r>
              <a:rPr lang="ar-SY" dirty="0"/>
              <a:t>نمذجة عمليات الاعمال</a:t>
            </a:r>
            <a:endParaRPr lang="en-US" dirty="0"/>
          </a:p>
        </p:txBody>
      </p:sp>
      <p:sp>
        <p:nvSpPr>
          <p:cNvPr id="3" name="عنصر نائب للمحتوى 2">
            <a:extLst>
              <a:ext uri="{FF2B5EF4-FFF2-40B4-BE49-F238E27FC236}">
                <a16:creationId xmlns:a16="http://schemas.microsoft.com/office/drawing/2014/main" id="{72A42B24-3EC8-4FE3-B9E2-CC528897D90F}"/>
              </a:ext>
            </a:extLst>
          </p:cNvPr>
          <p:cNvSpPr>
            <a:spLocks noGrp="1"/>
          </p:cNvSpPr>
          <p:nvPr>
            <p:ph idx="1"/>
          </p:nvPr>
        </p:nvSpPr>
        <p:spPr>
          <a:xfrm>
            <a:off x="4628196" y="2121408"/>
            <a:ext cx="6500051" cy="4050792"/>
          </a:xfrm>
        </p:spPr>
        <p:txBody>
          <a:bodyPr/>
          <a:lstStyle/>
          <a:p>
            <a:pPr algn="r" rtl="1"/>
            <a:r>
              <a:rPr lang="ar-SY" dirty="0"/>
              <a:t>ملف الاعمال</a:t>
            </a:r>
          </a:p>
          <a:p>
            <a:pPr marL="0" indent="0" algn="r" rtl="1">
              <a:buNone/>
            </a:pPr>
            <a:r>
              <a:rPr lang="ar-SY" dirty="0"/>
              <a:t>يمثل الملف الشخصي للنشاط التجاري نظرة عامة على مهمة الشركة ووظائفها وتنظيمها ومنتجاتها وخدماتها والعملاء والموردين والمنافسين والقيود والاتجاه المستقبلي.</a:t>
            </a:r>
          </a:p>
          <a:p>
            <a:pPr marL="0" indent="0" algn="r" rtl="1">
              <a:buNone/>
            </a:pPr>
            <a:r>
              <a:rPr lang="ar-SY" dirty="0"/>
              <a:t>على الرغم من توفر الكثير من هذه المعلومات بسهولة ، إلا أن محلل الأنظمة يحتاج عادة إلى إجراء بحث إضافي وتقصي الحقائق. الملف الشخصي للأعمال هو نقطة البداية لعملية النمذجة.</a:t>
            </a:r>
          </a:p>
          <a:p>
            <a:pPr algn="r" rtl="1"/>
            <a:r>
              <a:rPr lang="ar-SY" dirty="0"/>
              <a:t>العمليات</a:t>
            </a:r>
          </a:p>
          <a:p>
            <a:pPr marL="0" indent="0" algn="r" rtl="1">
              <a:buNone/>
            </a:pPr>
            <a:r>
              <a:rPr lang="ar-SY" dirty="0"/>
              <a:t>عملية الأعمال هي مجموعة محددة من المعاملات والأحداث والنتائج التي يمكن وصفها وتوثيقها.</a:t>
            </a:r>
          </a:p>
          <a:p>
            <a:pPr marL="0" indent="0" algn="r" rtl="1">
              <a:buNone/>
            </a:pPr>
            <a:endParaRPr lang="ar-SY" dirty="0"/>
          </a:p>
        </p:txBody>
      </p:sp>
      <p:sp>
        <p:nvSpPr>
          <p:cNvPr id="4" name="عنصر نائب لرقم الشريحة 3">
            <a:extLst>
              <a:ext uri="{FF2B5EF4-FFF2-40B4-BE49-F238E27FC236}">
                <a16:creationId xmlns:a16="http://schemas.microsoft.com/office/drawing/2014/main" id="{C501CC39-F0AF-42F9-B929-992990870488}"/>
              </a:ext>
            </a:extLst>
          </p:cNvPr>
          <p:cNvSpPr>
            <a:spLocks noGrp="1"/>
          </p:cNvSpPr>
          <p:nvPr>
            <p:ph type="sldNum" sz="quarter" idx="12"/>
          </p:nvPr>
        </p:nvSpPr>
        <p:spPr/>
        <p:txBody>
          <a:bodyPr/>
          <a:lstStyle/>
          <a:p>
            <a:fld id="{F2CCE190-E288-4FAE-B2C2-E9F20F724A24}" type="slidenum">
              <a:rPr lang="en-US" smtClean="0"/>
              <a:t>5</a:t>
            </a:fld>
            <a:endParaRPr lang="en-US"/>
          </a:p>
        </p:txBody>
      </p:sp>
      <p:pic>
        <p:nvPicPr>
          <p:cNvPr id="5" name="صورة 4">
            <a:extLst>
              <a:ext uri="{FF2B5EF4-FFF2-40B4-BE49-F238E27FC236}">
                <a16:creationId xmlns:a16="http://schemas.microsoft.com/office/drawing/2014/main" id="{A144795A-20DE-4758-B6DD-9E6290AD189A}"/>
              </a:ext>
            </a:extLst>
          </p:cNvPr>
          <p:cNvPicPr>
            <a:picLocks noChangeAspect="1"/>
          </p:cNvPicPr>
          <p:nvPr/>
        </p:nvPicPr>
        <p:blipFill>
          <a:blip r:embed="rId3"/>
          <a:stretch>
            <a:fillRect/>
          </a:stretch>
        </p:blipFill>
        <p:spPr>
          <a:xfrm>
            <a:off x="294321" y="1632204"/>
            <a:ext cx="4333875" cy="4238625"/>
          </a:xfrm>
          <a:prstGeom prst="rect">
            <a:avLst/>
          </a:prstGeom>
        </p:spPr>
      </p:pic>
    </p:spTree>
    <p:extLst>
      <p:ext uri="{BB962C8B-B14F-4D97-AF65-F5344CB8AC3E}">
        <p14:creationId xmlns:p14="http://schemas.microsoft.com/office/powerpoint/2010/main" val="79936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54A5E93-077F-435B-B412-1A29B3395F0B}"/>
              </a:ext>
            </a:extLst>
          </p:cNvPr>
          <p:cNvSpPr>
            <a:spLocks noGrp="1"/>
          </p:cNvSpPr>
          <p:nvPr>
            <p:ph type="title"/>
          </p:nvPr>
        </p:nvSpPr>
        <p:spPr/>
        <p:txBody>
          <a:bodyPr/>
          <a:lstStyle/>
          <a:p>
            <a:pPr algn="r" rtl="1"/>
            <a:r>
              <a:rPr lang="ar-SY" dirty="0"/>
              <a:t>ما هي المعلومات التي يحتاجها المستخدم؟</a:t>
            </a:r>
            <a:endParaRPr lang="en-US" dirty="0"/>
          </a:p>
        </p:txBody>
      </p:sp>
      <p:sp>
        <p:nvSpPr>
          <p:cNvPr id="3" name="عنصر نائب للمحتوى 2">
            <a:extLst>
              <a:ext uri="{FF2B5EF4-FFF2-40B4-BE49-F238E27FC236}">
                <a16:creationId xmlns:a16="http://schemas.microsoft.com/office/drawing/2014/main" id="{72A42B24-3EC8-4FE3-B9E2-CC528897D90F}"/>
              </a:ext>
            </a:extLst>
          </p:cNvPr>
          <p:cNvSpPr>
            <a:spLocks noGrp="1"/>
          </p:cNvSpPr>
          <p:nvPr>
            <p:ph idx="1"/>
          </p:nvPr>
        </p:nvSpPr>
        <p:spPr>
          <a:xfrm>
            <a:off x="7200900" y="2121408"/>
            <a:ext cx="3927348" cy="4050792"/>
          </a:xfrm>
        </p:spPr>
        <p:txBody>
          <a:bodyPr>
            <a:normAutofit lnSpcReduction="10000"/>
          </a:bodyPr>
          <a:lstStyle/>
          <a:p>
            <a:pPr algn="r" rtl="1"/>
            <a:r>
              <a:rPr lang="ar-SY" dirty="0"/>
              <a:t>يحدد النموذج التنظيمي النموذجي وظائف العمل والمستويات التنظيمية ، وفي المجالات الوظيفية ، يقوم الموظفون العاملون بالتنفيذ بتقديم تقارير إلى المشرفين وقادة الفرق. يشمل المستوى التالي المديرين المتوسطين والعاملين في مجال المعرفة ، والذين بدورهم يقدمون تقاريرهم إلى كبار المديرين. في الهيكل المؤسسي ، يرفع كبار المدراء تقاريرهم إلى مجلس إدارة ينتخبهم مساهمو الشركة.</a:t>
            </a:r>
          </a:p>
          <a:p>
            <a:pPr algn="r" rtl="1"/>
            <a:r>
              <a:rPr lang="ar-SY" dirty="0"/>
              <a:t>يجب على محلل الأنظمة أن يفهم النموذج التنظيمي للشركة للتعرف على المسؤول عن عمليات وقرارات محددة وأن يكون على دراية بالمعلومات المطلوبة من قِبل من.</a:t>
            </a:r>
          </a:p>
          <a:p>
            <a:pPr algn="r" rtl="1"/>
            <a:endParaRPr lang="en-US" dirty="0"/>
          </a:p>
        </p:txBody>
      </p:sp>
      <p:sp>
        <p:nvSpPr>
          <p:cNvPr id="4" name="عنصر نائب لرقم الشريحة 3">
            <a:extLst>
              <a:ext uri="{FF2B5EF4-FFF2-40B4-BE49-F238E27FC236}">
                <a16:creationId xmlns:a16="http://schemas.microsoft.com/office/drawing/2014/main" id="{C501CC39-F0AF-42F9-B929-992990870488}"/>
              </a:ext>
            </a:extLst>
          </p:cNvPr>
          <p:cNvSpPr>
            <a:spLocks noGrp="1"/>
          </p:cNvSpPr>
          <p:nvPr>
            <p:ph type="sldNum" sz="quarter" idx="12"/>
          </p:nvPr>
        </p:nvSpPr>
        <p:spPr/>
        <p:txBody>
          <a:bodyPr/>
          <a:lstStyle/>
          <a:p>
            <a:fld id="{F2CCE190-E288-4FAE-B2C2-E9F20F724A24}" type="slidenum">
              <a:rPr lang="en-US" smtClean="0"/>
              <a:t>6</a:t>
            </a:fld>
            <a:endParaRPr lang="en-US"/>
          </a:p>
        </p:txBody>
      </p:sp>
      <p:pic>
        <p:nvPicPr>
          <p:cNvPr id="5" name="صورة 4">
            <a:extLst>
              <a:ext uri="{FF2B5EF4-FFF2-40B4-BE49-F238E27FC236}">
                <a16:creationId xmlns:a16="http://schemas.microsoft.com/office/drawing/2014/main" id="{64415E02-994D-4C4A-AC8C-1CDA235461D9}"/>
              </a:ext>
            </a:extLst>
          </p:cNvPr>
          <p:cNvPicPr>
            <a:picLocks noChangeAspect="1"/>
          </p:cNvPicPr>
          <p:nvPr/>
        </p:nvPicPr>
        <p:blipFill>
          <a:blip r:embed="rId3"/>
          <a:stretch>
            <a:fillRect/>
          </a:stretch>
        </p:blipFill>
        <p:spPr>
          <a:xfrm>
            <a:off x="749617" y="2057401"/>
            <a:ext cx="6234875" cy="3635121"/>
          </a:xfrm>
          <a:prstGeom prst="rect">
            <a:avLst/>
          </a:prstGeom>
        </p:spPr>
      </p:pic>
    </p:spTree>
    <p:extLst>
      <p:ext uri="{BB962C8B-B14F-4D97-AF65-F5344CB8AC3E}">
        <p14:creationId xmlns:p14="http://schemas.microsoft.com/office/powerpoint/2010/main" val="2768695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5B112D5-D151-4A2F-BEC8-1F9C8EA62903}"/>
              </a:ext>
            </a:extLst>
          </p:cNvPr>
          <p:cNvSpPr>
            <a:spLocks noGrp="1"/>
          </p:cNvSpPr>
          <p:nvPr>
            <p:ph type="title"/>
          </p:nvPr>
        </p:nvSpPr>
        <p:spPr/>
        <p:txBody>
          <a:bodyPr/>
          <a:lstStyle/>
          <a:p>
            <a:pPr algn="r" rtl="1"/>
            <a:r>
              <a:rPr lang="ar-SY" dirty="0"/>
              <a:t>أساليب تطوير النظم</a:t>
            </a:r>
            <a:endParaRPr lang="en-US" dirty="0"/>
          </a:p>
        </p:txBody>
      </p:sp>
      <p:graphicFrame>
        <p:nvGraphicFramePr>
          <p:cNvPr id="5" name="عنصر نائب للمحتوى 4">
            <a:extLst>
              <a:ext uri="{FF2B5EF4-FFF2-40B4-BE49-F238E27FC236}">
                <a16:creationId xmlns:a16="http://schemas.microsoft.com/office/drawing/2014/main" id="{EA4C2E19-C089-4D98-B73C-5DC8B51FF044}"/>
              </a:ext>
            </a:extLst>
          </p:cNvPr>
          <p:cNvGraphicFramePr>
            <a:graphicFrameLocks noGrp="1"/>
          </p:cNvGraphicFramePr>
          <p:nvPr>
            <p:ph idx="1"/>
            <p:extLst>
              <p:ext uri="{D42A27DB-BD31-4B8C-83A1-F6EECF244321}">
                <p14:modId xmlns:p14="http://schemas.microsoft.com/office/powerpoint/2010/main" val="1072948987"/>
              </p:ext>
            </p:extLst>
          </p:nvPr>
        </p:nvGraphicFramePr>
        <p:xfrm>
          <a:off x="1069975" y="2120900"/>
          <a:ext cx="10058400" cy="1656080"/>
        </p:xfrm>
        <a:graphic>
          <a:graphicData uri="http://schemas.openxmlformats.org/drawingml/2006/table">
            <a:tbl>
              <a:tblPr firstRow="1" bandRow="1">
                <a:tableStyleId>{8A107856-5554-42FB-B03E-39F5DBC370BA}</a:tableStyleId>
              </a:tblPr>
              <a:tblGrid>
                <a:gridCol w="3352800">
                  <a:extLst>
                    <a:ext uri="{9D8B030D-6E8A-4147-A177-3AD203B41FA5}">
                      <a16:colId xmlns:a16="http://schemas.microsoft.com/office/drawing/2014/main" val="801741153"/>
                    </a:ext>
                  </a:extLst>
                </a:gridCol>
                <a:gridCol w="3352800">
                  <a:extLst>
                    <a:ext uri="{9D8B030D-6E8A-4147-A177-3AD203B41FA5}">
                      <a16:colId xmlns:a16="http://schemas.microsoft.com/office/drawing/2014/main" val="1352121816"/>
                    </a:ext>
                  </a:extLst>
                </a:gridCol>
                <a:gridCol w="3352800">
                  <a:extLst>
                    <a:ext uri="{9D8B030D-6E8A-4147-A177-3AD203B41FA5}">
                      <a16:colId xmlns:a16="http://schemas.microsoft.com/office/drawing/2014/main" val="3744990298"/>
                    </a:ext>
                  </a:extLst>
                </a:gridCol>
              </a:tblGrid>
              <a:tr h="370840">
                <a:tc>
                  <a:txBody>
                    <a:bodyPr/>
                    <a:lstStyle/>
                    <a:p>
                      <a:pPr algn="ctr" rtl="1"/>
                      <a:r>
                        <a:rPr lang="ar-SY" dirty="0"/>
                        <a:t>أسلوب </a:t>
                      </a:r>
                      <a:r>
                        <a:rPr lang="en-US" dirty="0"/>
                        <a:t>AGILE</a:t>
                      </a:r>
                    </a:p>
                  </a:txBody>
                  <a:tcPr/>
                </a:tc>
                <a:tc>
                  <a:txBody>
                    <a:bodyPr/>
                    <a:lstStyle/>
                    <a:p>
                      <a:pPr algn="ctr" rtl="1"/>
                      <a:r>
                        <a:rPr lang="ar-SY" dirty="0"/>
                        <a:t>التحليل غرضي التوجه</a:t>
                      </a:r>
                      <a:endParaRPr lang="en-US" dirty="0"/>
                    </a:p>
                  </a:txBody>
                  <a:tcPr/>
                </a:tc>
                <a:tc>
                  <a:txBody>
                    <a:bodyPr/>
                    <a:lstStyle/>
                    <a:p>
                      <a:pPr algn="ctr" rtl="1"/>
                      <a:r>
                        <a:rPr lang="ar-SY" dirty="0"/>
                        <a:t>التحليل البنيوي</a:t>
                      </a:r>
                      <a:endParaRPr lang="en-US" dirty="0"/>
                    </a:p>
                  </a:txBody>
                  <a:tcPr/>
                </a:tc>
                <a:extLst>
                  <a:ext uri="{0D108BD9-81ED-4DB2-BD59-A6C34878D82A}">
                    <a16:rowId xmlns:a16="http://schemas.microsoft.com/office/drawing/2014/main" val="3214438910"/>
                  </a:ext>
                </a:extLst>
              </a:tr>
              <a:tr h="370840">
                <a:tc>
                  <a:txBody>
                    <a:bodyPr/>
                    <a:lstStyle/>
                    <a:p>
                      <a:pPr algn="ctr" rtl="1"/>
                      <a:r>
                        <a:rPr lang="ar-SY" dirty="0"/>
                        <a:t> يكسر التطور إلى دورات ، أو تكرارات ، تضيف وظائف. يتم تصميم كل دورة وتصميمها واختبارها في عملية مستمرة.</a:t>
                      </a:r>
                      <a:endParaRPr lang="en-US" dirty="0"/>
                    </a:p>
                  </a:txBody>
                  <a:tcPr/>
                </a:tc>
                <a:tc>
                  <a:txBody>
                    <a:bodyPr/>
                    <a:lstStyle/>
                    <a:p>
                      <a:pPr algn="ctr" rtl="1"/>
                      <a:r>
                        <a:rPr lang="ar-SY" dirty="0"/>
                        <a:t>تعتبر النظام من حيث الأشياء التي تجمع بين البيانات والعمليات. تمثل الكائنات الأشخاص والأشياء والمعاملات والأحداث الفعلية</a:t>
                      </a:r>
                      <a:endParaRPr lang="en-US" dirty="0"/>
                    </a:p>
                  </a:txBody>
                  <a:tcPr/>
                </a:tc>
                <a:tc>
                  <a:txBody>
                    <a:bodyPr/>
                    <a:lstStyle/>
                    <a:p>
                      <a:pPr algn="ctr" rtl="1"/>
                      <a:r>
                        <a:rPr lang="ar-SY" dirty="0"/>
                        <a:t>يمثل النظام من حيث البيانات والعمليات التي تعمل وفقًا لتلك البيانات. </a:t>
                      </a:r>
                      <a:endParaRPr lang="en-US" dirty="0"/>
                    </a:p>
                  </a:txBody>
                  <a:tcPr/>
                </a:tc>
                <a:extLst>
                  <a:ext uri="{0D108BD9-81ED-4DB2-BD59-A6C34878D82A}">
                    <a16:rowId xmlns:a16="http://schemas.microsoft.com/office/drawing/2014/main" val="3716274960"/>
                  </a:ext>
                </a:extLst>
              </a:tr>
              <a:tr h="3708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business process modeling.</a:t>
                      </a:r>
                      <a:endParaRPr lang="en-US" dirty="0"/>
                    </a:p>
                  </a:txBody>
                  <a:tcPr/>
                </a:tc>
                <a:tc>
                  <a:txBody>
                    <a:bodyPr/>
                    <a:lstStyle/>
                    <a:p>
                      <a:pPr algn="ctr"/>
                      <a:r>
                        <a:rPr lang="en-US" sz="1800" b="0" i="0" u="none" strike="noStrike" kern="1200" baseline="0" dirty="0">
                          <a:solidFill>
                            <a:schemeClr val="dk1"/>
                          </a:solidFill>
                          <a:latin typeface="+mn-lt"/>
                          <a:ea typeface="+mn-ea"/>
                          <a:cs typeface="+mn-cs"/>
                        </a:rPr>
                        <a:t>business process modeling.</a:t>
                      </a:r>
                      <a:endParaRPr lang="en-US" dirty="0"/>
                    </a:p>
                  </a:txBody>
                  <a:tcPr anchor="ctr"/>
                </a:tc>
                <a:tc>
                  <a:txBody>
                    <a:bodyPr/>
                    <a:lstStyle/>
                    <a:p>
                      <a:pPr algn="ctr" rtl="1"/>
                      <a:r>
                        <a:rPr lang="en-US" sz="1800" b="0" i="0" u="none" strike="noStrike" kern="1200" baseline="0" dirty="0">
                          <a:solidFill>
                            <a:schemeClr val="dk1"/>
                          </a:solidFill>
                          <a:latin typeface="+mn-lt"/>
                          <a:ea typeface="+mn-ea"/>
                          <a:cs typeface="+mn-cs"/>
                        </a:rPr>
                        <a:t>Data flow diagrams</a:t>
                      </a:r>
                      <a:endParaRPr lang="en-US" dirty="0"/>
                    </a:p>
                  </a:txBody>
                  <a:tcPr/>
                </a:tc>
                <a:extLst>
                  <a:ext uri="{0D108BD9-81ED-4DB2-BD59-A6C34878D82A}">
                    <a16:rowId xmlns:a16="http://schemas.microsoft.com/office/drawing/2014/main" val="3948772059"/>
                  </a:ext>
                </a:extLst>
              </a:tr>
            </a:tbl>
          </a:graphicData>
        </a:graphic>
      </p:graphicFrame>
      <p:sp>
        <p:nvSpPr>
          <p:cNvPr id="4" name="عنصر نائب لرقم الشريحة 3">
            <a:extLst>
              <a:ext uri="{FF2B5EF4-FFF2-40B4-BE49-F238E27FC236}">
                <a16:creationId xmlns:a16="http://schemas.microsoft.com/office/drawing/2014/main" id="{F4228535-9C8F-453B-8AA8-AE5975A64C55}"/>
              </a:ext>
            </a:extLst>
          </p:cNvPr>
          <p:cNvSpPr>
            <a:spLocks noGrp="1"/>
          </p:cNvSpPr>
          <p:nvPr>
            <p:ph type="sldNum" sz="quarter" idx="12"/>
          </p:nvPr>
        </p:nvSpPr>
        <p:spPr/>
        <p:txBody>
          <a:bodyPr/>
          <a:lstStyle/>
          <a:p>
            <a:fld id="{F2CCE190-E288-4FAE-B2C2-E9F20F724A24}" type="slidenum">
              <a:rPr lang="en-US" smtClean="0"/>
              <a:t>7</a:t>
            </a:fld>
            <a:endParaRPr lang="en-US"/>
          </a:p>
        </p:txBody>
      </p:sp>
    </p:spTree>
    <p:extLst>
      <p:ext uri="{BB962C8B-B14F-4D97-AF65-F5344CB8AC3E}">
        <p14:creationId xmlns:p14="http://schemas.microsoft.com/office/powerpoint/2010/main" val="61401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BF18A22-86FB-4492-9447-8922ACACF0D1}"/>
              </a:ext>
            </a:extLst>
          </p:cNvPr>
          <p:cNvSpPr>
            <a:spLocks noGrp="1"/>
          </p:cNvSpPr>
          <p:nvPr>
            <p:ph type="title"/>
          </p:nvPr>
        </p:nvSpPr>
        <p:spPr/>
        <p:txBody>
          <a:bodyPr/>
          <a:lstStyle/>
          <a:p>
            <a:pPr algn="r" rtl="1"/>
            <a:r>
              <a:rPr lang="ar-SY" dirty="0"/>
              <a:t>قسم ال</a:t>
            </a:r>
            <a:r>
              <a:rPr lang="en-US" dirty="0"/>
              <a:t>IT</a:t>
            </a:r>
            <a:r>
              <a:rPr lang="ar-SY" dirty="0"/>
              <a:t> ضمن الشركات</a:t>
            </a:r>
            <a:endParaRPr lang="en-US" dirty="0"/>
          </a:p>
        </p:txBody>
      </p:sp>
      <p:sp>
        <p:nvSpPr>
          <p:cNvPr id="4" name="عنصر نائب لرقم الشريحة 3">
            <a:extLst>
              <a:ext uri="{FF2B5EF4-FFF2-40B4-BE49-F238E27FC236}">
                <a16:creationId xmlns:a16="http://schemas.microsoft.com/office/drawing/2014/main" id="{EF4A1535-DB91-479C-A89F-37882D49365F}"/>
              </a:ext>
            </a:extLst>
          </p:cNvPr>
          <p:cNvSpPr>
            <a:spLocks noGrp="1"/>
          </p:cNvSpPr>
          <p:nvPr>
            <p:ph type="sldNum" sz="quarter" idx="12"/>
          </p:nvPr>
        </p:nvSpPr>
        <p:spPr/>
        <p:txBody>
          <a:bodyPr/>
          <a:lstStyle/>
          <a:p>
            <a:fld id="{F2CCE190-E288-4FAE-B2C2-E9F20F724A24}" type="slidenum">
              <a:rPr lang="en-US" smtClean="0"/>
              <a:t>8</a:t>
            </a:fld>
            <a:endParaRPr lang="en-US"/>
          </a:p>
        </p:txBody>
      </p:sp>
      <p:pic>
        <p:nvPicPr>
          <p:cNvPr id="5" name="صورة 4">
            <a:extLst>
              <a:ext uri="{FF2B5EF4-FFF2-40B4-BE49-F238E27FC236}">
                <a16:creationId xmlns:a16="http://schemas.microsoft.com/office/drawing/2014/main" id="{FBE7D250-47E9-4746-ACA5-07F0B3AF6122}"/>
              </a:ext>
            </a:extLst>
          </p:cNvPr>
          <p:cNvPicPr>
            <a:picLocks noChangeAspect="1"/>
          </p:cNvPicPr>
          <p:nvPr/>
        </p:nvPicPr>
        <p:blipFill>
          <a:blip r:embed="rId3"/>
          <a:stretch>
            <a:fillRect/>
          </a:stretch>
        </p:blipFill>
        <p:spPr>
          <a:xfrm>
            <a:off x="652462" y="2471737"/>
            <a:ext cx="10887075" cy="2600325"/>
          </a:xfrm>
          <a:prstGeom prst="rect">
            <a:avLst/>
          </a:prstGeom>
        </p:spPr>
      </p:pic>
    </p:spTree>
    <p:extLst>
      <p:ext uri="{BB962C8B-B14F-4D97-AF65-F5344CB8AC3E}">
        <p14:creationId xmlns:p14="http://schemas.microsoft.com/office/powerpoint/2010/main" val="3506829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2DB4015-6BFA-4910-941C-0E574A23B0D3}"/>
              </a:ext>
            </a:extLst>
          </p:cNvPr>
          <p:cNvSpPr>
            <a:spLocks noGrp="1"/>
          </p:cNvSpPr>
          <p:nvPr>
            <p:ph type="title"/>
          </p:nvPr>
        </p:nvSpPr>
        <p:spPr/>
        <p:txBody>
          <a:bodyPr/>
          <a:lstStyle/>
          <a:p>
            <a:pPr algn="r" rtl="1"/>
            <a:r>
              <a:rPr lang="ar-SY" dirty="0"/>
              <a:t>تحليل قضايا الاعمال</a:t>
            </a:r>
            <a:endParaRPr lang="en-US" dirty="0"/>
          </a:p>
        </p:txBody>
      </p:sp>
      <p:sp>
        <p:nvSpPr>
          <p:cNvPr id="4" name="عنصر نائب لرقم الشريحة 3">
            <a:extLst>
              <a:ext uri="{FF2B5EF4-FFF2-40B4-BE49-F238E27FC236}">
                <a16:creationId xmlns:a16="http://schemas.microsoft.com/office/drawing/2014/main" id="{A7E0A2C6-DD0A-44F4-980C-DA3AE62B9DF1}"/>
              </a:ext>
            </a:extLst>
          </p:cNvPr>
          <p:cNvSpPr>
            <a:spLocks noGrp="1"/>
          </p:cNvSpPr>
          <p:nvPr>
            <p:ph type="sldNum" sz="quarter" idx="12"/>
          </p:nvPr>
        </p:nvSpPr>
        <p:spPr/>
        <p:txBody>
          <a:bodyPr/>
          <a:lstStyle/>
          <a:p>
            <a:fld id="{F2CCE190-E288-4FAE-B2C2-E9F20F724A24}" type="slidenum">
              <a:rPr lang="en-US" smtClean="0"/>
              <a:t>9</a:t>
            </a:fld>
            <a:endParaRPr lang="en-US" dirty="0"/>
          </a:p>
        </p:txBody>
      </p:sp>
    </p:spTree>
    <p:extLst>
      <p:ext uri="{BB962C8B-B14F-4D97-AF65-F5344CB8AC3E}">
        <p14:creationId xmlns:p14="http://schemas.microsoft.com/office/powerpoint/2010/main" val="3197403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ACD0FA9-6371-44FB-8700-BD700BC8E59A}"/>
              </a:ext>
            </a:extLst>
          </p:cNvPr>
          <p:cNvSpPr>
            <a:spLocks noGrp="1"/>
          </p:cNvSpPr>
          <p:nvPr>
            <p:ph type="title"/>
          </p:nvPr>
        </p:nvSpPr>
        <p:spPr/>
        <p:txBody>
          <a:bodyPr/>
          <a:lstStyle/>
          <a:p>
            <a:pPr algn="r" rtl="1"/>
            <a:r>
              <a:rPr lang="ar-SY" dirty="0"/>
              <a:t>اطار العمل الخاص بقسم ال</a:t>
            </a:r>
            <a:r>
              <a:rPr lang="en-US" dirty="0"/>
              <a:t>IT</a:t>
            </a:r>
          </a:p>
        </p:txBody>
      </p:sp>
      <p:sp>
        <p:nvSpPr>
          <p:cNvPr id="3" name="عنصر نائب للمحتوى 2">
            <a:extLst>
              <a:ext uri="{FF2B5EF4-FFF2-40B4-BE49-F238E27FC236}">
                <a16:creationId xmlns:a16="http://schemas.microsoft.com/office/drawing/2014/main" id="{4672E922-2A3E-465B-8518-1D280F8111B9}"/>
              </a:ext>
            </a:extLst>
          </p:cNvPr>
          <p:cNvSpPr>
            <a:spLocks noGrp="1"/>
          </p:cNvSpPr>
          <p:nvPr>
            <p:ph idx="1"/>
          </p:nvPr>
        </p:nvSpPr>
        <p:spPr/>
        <p:txBody>
          <a:bodyPr/>
          <a:lstStyle/>
          <a:p>
            <a:pPr algn="r" rtl="1"/>
            <a:r>
              <a:rPr lang="ar-SY" dirty="0"/>
              <a:t>التخطيط الاستراتيجي: هو عملية تحديد اهداف المنظمة و </a:t>
            </a:r>
            <a:r>
              <a:rPr lang="ar-SY" dirty="0" err="1"/>
              <a:t>مصاردها</a:t>
            </a:r>
            <a:r>
              <a:rPr lang="ar-SY" dirty="0"/>
              <a:t> بعيدة المدى, وهي عملية النظر وراء النشاطات اليومية حيث يتم النظر الى اهداف قد يصل عمرها الى 10 سنوات, وهو ما يتطلب من قسم ال</a:t>
            </a:r>
            <a:r>
              <a:rPr lang="en-US" dirty="0"/>
              <a:t>IT</a:t>
            </a:r>
            <a:r>
              <a:rPr lang="ar-SY" dirty="0"/>
              <a:t> ان يدعم هذا التخطيط عن طريق تطوير الموارد من تجهيزات برمجية و </a:t>
            </a:r>
            <a:r>
              <a:rPr lang="ar-SY" dirty="0" err="1"/>
              <a:t>عتادية</a:t>
            </a:r>
            <a:r>
              <a:rPr lang="ar-SY" dirty="0"/>
              <a:t> و مخازن بيانات.</a:t>
            </a:r>
          </a:p>
          <a:p>
            <a:pPr algn="r" rtl="1"/>
            <a:r>
              <a:rPr lang="ar-SY" dirty="0"/>
              <a:t>استراتيجية </a:t>
            </a:r>
            <a:r>
              <a:rPr lang="en-US" dirty="0"/>
              <a:t>SWOT</a:t>
            </a:r>
            <a:r>
              <a:rPr lang="ar-SY" dirty="0"/>
              <a:t>: نقاط القوة – الضعف – الفرص - التهديدات</a:t>
            </a:r>
            <a:endParaRPr lang="en-US" dirty="0"/>
          </a:p>
        </p:txBody>
      </p:sp>
      <p:sp>
        <p:nvSpPr>
          <p:cNvPr id="4" name="عنصر نائب لرقم الشريحة 3">
            <a:extLst>
              <a:ext uri="{FF2B5EF4-FFF2-40B4-BE49-F238E27FC236}">
                <a16:creationId xmlns:a16="http://schemas.microsoft.com/office/drawing/2014/main" id="{EC334F41-01A1-4B14-AE73-4F7299288046}"/>
              </a:ext>
            </a:extLst>
          </p:cNvPr>
          <p:cNvSpPr>
            <a:spLocks noGrp="1"/>
          </p:cNvSpPr>
          <p:nvPr>
            <p:ph type="sldNum" sz="quarter" idx="12"/>
          </p:nvPr>
        </p:nvSpPr>
        <p:spPr/>
        <p:txBody>
          <a:bodyPr/>
          <a:lstStyle/>
          <a:p>
            <a:fld id="{F2CCE190-E288-4FAE-B2C2-E9F20F724A24}" type="slidenum">
              <a:rPr lang="en-US" smtClean="0"/>
              <a:t>10</a:t>
            </a:fld>
            <a:endParaRPr lang="en-US"/>
          </a:p>
        </p:txBody>
      </p:sp>
      <p:pic>
        <p:nvPicPr>
          <p:cNvPr id="5" name="صورة 4">
            <a:extLst>
              <a:ext uri="{FF2B5EF4-FFF2-40B4-BE49-F238E27FC236}">
                <a16:creationId xmlns:a16="http://schemas.microsoft.com/office/drawing/2014/main" id="{DD4ADF43-4C7E-4735-BA44-5966E3B58B1D}"/>
              </a:ext>
            </a:extLst>
          </p:cNvPr>
          <p:cNvPicPr>
            <a:picLocks noChangeAspect="1"/>
          </p:cNvPicPr>
          <p:nvPr/>
        </p:nvPicPr>
        <p:blipFill>
          <a:blip r:embed="rId3"/>
          <a:stretch>
            <a:fillRect/>
          </a:stretch>
        </p:blipFill>
        <p:spPr>
          <a:xfrm>
            <a:off x="1063752" y="2807208"/>
            <a:ext cx="4674108" cy="4050792"/>
          </a:xfrm>
          <a:prstGeom prst="rect">
            <a:avLst/>
          </a:prstGeom>
        </p:spPr>
      </p:pic>
    </p:spTree>
    <p:extLst>
      <p:ext uri="{BB962C8B-B14F-4D97-AF65-F5344CB8AC3E}">
        <p14:creationId xmlns:p14="http://schemas.microsoft.com/office/powerpoint/2010/main" val="309570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C6A14A5-8E21-47E2-964B-B4BA3C618A17}"/>
              </a:ext>
            </a:extLst>
          </p:cNvPr>
          <p:cNvSpPr>
            <a:spLocks noGrp="1"/>
          </p:cNvSpPr>
          <p:nvPr>
            <p:ph type="title"/>
          </p:nvPr>
        </p:nvSpPr>
        <p:spPr/>
        <p:txBody>
          <a:bodyPr/>
          <a:lstStyle/>
          <a:p>
            <a:pPr algn="r" rtl="1"/>
            <a:r>
              <a:rPr lang="ar-SY" dirty="0"/>
              <a:t>العمل كحالة مدروسة</a:t>
            </a:r>
            <a:endParaRPr lang="en-US" dirty="0"/>
          </a:p>
        </p:txBody>
      </p:sp>
      <p:sp>
        <p:nvSpPr>
          <p:cNvPr id="3" name="عنصر نائب للمحتوى 2">
            <a:extLst>
              <a:ext uri="{FF2B5EF4-FFF2-40B4-BE49-F238E27FC236}">
                <a16:creationId xmlns:a16="http://schemas.microsoft.com/office/drawing/2014/main" id="{CA5C7EC3-F5EC-404C-A006-4C07E367ACF2}"/>
              </a:ext>
            </a:extLst>
          </p:cNvPr>
          <p:cNvSpPr>
            <a:spLocks noGrp="1"/>
          </p:cNvSpPr>
          <p:nvPr>
            <p:ph idx="1"/>
          </p:nvPr>
        </p:nvSpPr>
        <p:spPr/>
        <p:txBody>
          <a:bodyPr/>
          <a:lstStyle/>
          <a:p>
            <a:pPr algn="r" rtl="1"/>
            <a:r>
              <a:rPr lang="ar-SY" dirty="0"/>
              <a:t>مصطلح </a:t>
            </a:r>
            <a:r>
              <a:rPr lang="en-US" dirty="0"/>
              <a:t>business case</a:t>
            </a:r>
            <a:r>
              <a:rPr lang="ar-SY" dirty="0"/>
              <a:t> هو مصطلح يحتوي على إجابة للأسئلة التالية:</a:t>
            </a:r>
          </a:p>
          <a:p>
            <a:pPr marL="617220" lvl="1" indent="-342900" algn="r" rtl="1">
              <a:buFont typeface="+mj-lt"/>
              <a:buAutoNum type="arabicPeriod"/>
            </a:pPr>
            <a:r>
              <a:rPr lang="ar-SY" dirty="0"/>
              <a:t>لماذا نقوم بهذا المشروع؟</a:t>
            </a:r>
          </a:p>
          <a:p>
            <a:pPr marL="617220" lvl="1" indent="-342900" algn="r" rtl="1">
              <a:buFont typeface="+mj-lt"/>
              <a:buAutoNum type="arabicPeriod"/>
            </a:pPr>
            <a:r>
              <a:rPr lang="ar-SY" dirty="0"/>
              <a:t>ما هو محتوى المشروع؟</a:t>
            </a:r>
          </a:p>
          <a:p>
            <a:pPr marL="617220" lvl="1" indent="-342900" algn="r" rtl="1">
              <a:buFont typeface="+mj-lt"/>
              <a:buAutoNum type="arabicPeriod"/>
            </a:pPr>
            <a:r>
              <a:rPr lang="ar-SY" dirty="0"/>
              <a:t>كيف يرتبط الحل مع قضايا العمل؟</a:t>
            </a:r>
          </a:p>
          <a:p>
            <a:pPr marL="617220" lvl="1" indent="-342900" algn="r" rtl="1">
              <a:buFont typeface="+mj-lt"/>
              <a:buAutoNum type="arabicPeriod"/>
            </a:pPr>
            <a:r>
              <a:rPr lang="ar-SY" dirty="0"/>
              <a:t>ما هي كلفة المشروع و ماهي مدته؟</a:t>
            </a:r>
          </a:p>
          <a:p>
            <a:pPr marL="617220" lvl="1" indent="-342900" algn="r" rtl="1">
              <a:buFont typeface="+mj-lt"/>
              <a:buAutoNum type="arabicPeriod"/>
            </a:pPr>
            <a:r>
              <a:rPr lang="ar-SY" dirty="0"/>
              <a:t>هل ستنخفض الإنتاجية اثناء الانتقال الى المشروع الجديد؟</a:t>
            </a:r>
          </a:p>
          <a:p>
            <a:pPr marL="617220" lvl="1" indent="-342900" algn="r" rtl="1">
              <a:buFont typeface="+mj-lt"/>
              <a:buAutoNum type="arabicPeriod"/>
            </a:pPr>
            <a:r>
              <a:rPr lang="ar-SY" dirty="0"/>
              <a:t>ما هي الأرباح و متى ستبدأ بالظهور؟</a:t>
            </a:r>
          </a:p>
          <a:p>
            <a:pPr marL="617220" lvl="1" indent="-342900" algn="r" rtl="1">
              <a:buFont typeface="+mj-lt"/>
              <a:buAutoNum type="arabicPeriod"/>
            </a:pPr>
            <a:r>
              <a:rPr lang="ar-SY" dirty="0"/>
              <a:t>ما هي مخاطر تنفيذ المشروع؟ و ما هي مخاطر عدم تنفيذه؟</a:t>
            </a:r>
          </a:p>
          <a:p>
            <a:pPr marL="617220" lvl="1" indent="-342900" algn="r" rtl="1">
              <a:buFont typeface="+mj-lt"/>
              <a:buAutoNum type="arabicPeriod"/>
            </a:pPr>
            <a:r>
              <a:rPr lang="ar-SY" dirty="0"/>
              <a:t>كيف سنقيس نجاح المشروع؟</a:t>
            </a:r>
          </a:p>
          <a:p>
            <a:pPr marL="617220" lvl="1" indent="-342900" algn="r" rtl="1">
              <a:buFont typeface="+mj-lt"/>
              <a:buAutoNum type="arabicPeriod"/>
            </a:pPr>
            <a:r>
              <a:rPr lang="ar-SY" dirty="0"/>
              <a:t>ما هي البدائل</a:t>
            </a:r>
            <a:endParaRPr lang="en-US" dirty="0"/>
          </a:p>
        </p:txBody>
      </p:sp>
      <p:sp>
        <p:nvSpPr>
          <p:cNvPr id="4" name="عنصر نائب لرقم الشريحة 3">
            <a:extLst>
              <a:ext uri="{FF2B5EF4-FFF2-40B4-BE49-F238E27FC236}">
                <a16:creationId xmlns:a16="http://schemas.microsoft.com/office/drawing/2014/main" id="{DF77A67B-C2AA-48B9-8974-AD29181EF480}"/>
              </a:ext>
            </a:extLst>
          </p:cNvPr>
          <p:cNvSpPr>
            <a:spLocks noGrp="1"/>
          </p:cNvSpPr>
          <p:nvPr>
            <p:ph type="sldNum" sz="quarter" idx="12"/>
          </p:nvPr>
        </p:nvSpPr>
        <p:spPr/>
        <p:txBody>
          <a:bodyPr/>
          <a:lstStyle/>
          <a:p>
            <a:fld id="{F2CCE190-E288-4FAE-B2C2-E9F20F724A24}" type="slidenum">
              <a:rPr lang="en-US" smtClean="0"/>
              <a:t>11</a:t>
            </a:fld>
            <a:endParaRPr lang="en-US"/>
          </a:p>
        </p:txBody>
      </p:sp>
      <p:sp>
        <p:nvSpPr>
          <p:cNvPr id="5" name="انفجار: 14 نقطة 4">
            <a:extLst>
              <a:ext uri="{FF2B5EF4-FFF2-40B4-BE49-F238E27FC236}">
                <a16:creationId xmlns:a16="http://schemas.microsoft.com/office/drawing/2014/main" id="{ECBE80B9-6CC0-41A7-A57A-2E8C16487B3C}"/>
              </a:ext>
            </a:extLst>
          </p:cNvPr>
          <p:cNvSpPr/>
          <p:nvPr/>
        </p:nvSpPr>
        <p:spPr>
          <a:xfrm>
            <a:off x="384048" y="2093976"/>
            <a:ext cx="4782312" cy="322326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Y" sz="7200" dirty="0"/>
              <a:t>1</a:t>
            </a:r>
            <a:endParaRPr lang="en-US" sz="7200" dirty="0"/>
          </a:p>
        </p:txBody>
      </p:sp>
    </p:spTree>
    <p:extLst>
      <p:ext uri="{BB962C8B-B14F-4D97-AF65-F5344CB8AC3E}">
        <p14:creationId xmlns:p14="http://schemas.microsoft.com/office/powerpoint/2010/main" val="4183422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C6A14A5-8E21-47E2-964B-B4BA3C618A17}"/>
              </a:ext>
            </a:extLst>
          </p:cNvPr>
          <p:cNvSpPr>
            <a:spLocks noGrp="1"/>
          </p:cNvSpPr>
          <p:nvPr>
            <p:ph type="title"/>
          </p:nvPr>
        </p:nvSpPr>
        <p:spPr/>
        <p:txBody>
          <a:bodyPr/>
          <a:lstStyle/>
          <a:p>
            <a:pPr algn="r" rtl="1"/>
            <a:r>
              <a:rPr lang="ar-SY" dirty="0"/>
              <a:t>مشاريع نظم المعلومات</a:t>
            </a:r>
            <a:endParaRPr lang="en-US" dirty="0"/>
          </a:p>
        </p:txBody>
      </p:sp>
      <p:sp>
        <p:nvSpPr>
          <p:cNvPr id="4" name="عنصر نائب لرقم الشريحة 3">
            <a:extLst>
              <a:ext uri="{FF2B5EF4-FFF2-40B4-BE49-F238E27FC236}">
                <a16:creationId xmlns:a16="http://schemas.microsoft.com/office/drawing/2014/main" id="{DF77A67B-C2AA-48B9-8974-AD29181EF480}"/>
              </a:ext>
            </a:extLst>
          </p:cNvPr>
          <p:cNvSpPr>
            <a:spLocks noGrp="1"/>
          </p:cNvSpPr>
          <p:nvPr>
            <p:ph type="sldNum" sz="quarter" idx="12"/>
          </p:nvPr>
        </p:nvSpPr>
        <p:spPr/>
        <p:txBody>
          <a:bodyPr/>
          <a:lstStyle/>
          <a:p>
            <a:fld id="{F2CCE190-E288-4FAE-B2C2-E9F20F724A24}" type="slidenum">
              <a:rPr lang="en-US" smtClean="0"/>
              <a:t>12</a:t>
            </a:fld>
            <a:endParaRPr lang="en-US"/>
          </a:p>
        </p:txBody>
      </p:sp>
      <p:pic>
        <p:nvPicPr>
          <p:cNvPr id="8" name="صورة 7">
            <a:extLst>
              <a:ext uri="{FF2B5EF4-FFF2-40B4-BE49-F238E27FC236}">
                <a16:creationId xmlns:a16="http://schemas.microsoft.com/office/drawing/2014/main" id="{92A8282C-9355-4EF5-87CA-5D1A0A2E089E}"/>
              </a:ext>
            </a:extLst>
          </p:cNvPr>
          <p:cNvPicPr>
            <a:picLocks noChangeAspect="1"/>
          </p:cNvPicPr>
          <p:nvPr/>
        </p:nvPicPr>
        <p:blipFill>
          <a:blip r:embed="rId3"/>
          <a:stretch>
            <a:fillRect/>
          </a:stretch>
        </p:blipFill>
        <p:spPr>
          <a:xfrm>
            <a:off x="1063752" y="1556385"/>
            <a:ext cx="5534025" cy="4476750"/>
          </a:xfrm>
          <a:prstGeom prst="rect">
            <a:avLst/>
          </a:prstGeom>
        </p:spPr>
      </p:pic>
      <p:sp>
        <p:nvSpPr>
          <p:cNvPr id="9" name="سهم: لليسار 8">
            <a:extLst>
              <a:ext uri="{FF2B5EF4-FFF2-40B4-BE49-F238E27FC236}">
                <a16:creationId xmlns:a16="http://schemas.microsoft.com/office/drawing/2014/main" id="{0C9BF6A4-6D03-45BB-8F51-087C49EFEBC2}"/>
              </a:ext>
            </a:extLst>
          </p:cNvPr>
          <p:cNvSpPr/>
          <p:nvPr/>
        </p:nvSpPr>
        <p:spPr>
          <a:xfrm>
            <a:off x="7406640" y="2932937"/>
            <a:ext cx="3378708" cy="1723645"/>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ar-SY" dirty="0"/>
              <a:t>أسباب المشروع البرمجي و تطويره</a:t>
            </a:r>
            <a:endParaRPr lang="en-US" dirty="0"/>
          </a:p>
        </p:txBody>
      </p:sp>
    </p:spTree>
    <p:extLst>
      <p:ext uri="{BB962C8B-B14F-4D97-AF65-F5344CB8AC3E}">
        <p14:creationId xmlns:p14="http://schemas.microsoft.com/office/powerpoint/2010/main" val="888034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C6A14A5-8E21-47E2-964B-B4BA3C618A17}"/>
              </a:ext>
            </a:extLst>
          </p:cNvPr>
          <p:cNvSpPr>
            <a:spLocks noGrp="1"/>
          </p:cNvSpPr>
          <p:nvPr>
            <p:ph type="title"/>
          </p:nvPr>
        </p:nvSpPr>
        <p:spPr/>
        <p:txBody>
          <a:bodyPr/>
          <a:lstStyle/>
          <a:p>
            <a:pPr algn="r" rtl="1"/>
            <a:r>
              <a:rPr lang="ar-SY" dirty="0"/>
              <a:t>مشاريع نظم المعلومات</a:t>
            </a:r>
            <a:endParaRPr lang="en-US" dirty="0"/>
          </a:p>
        </p:txBody>
      </p:sp>
      <p:sp>
        <p:nvSpPr>
          <p:cNvPr id="4" name="عنصر نائب لرقم الشريحة 3">
            <a:extLst>
              <a:ext uri="{FF2B5EF4-FFF2-40B4-BE49-F238E27FC236}">
                <a16:creationId xmlns:a16="http://schemas.microsoft.com/office/drawing/2014/main" id="{DF77A67B-C2AA-48B9-8974-AD29181EF480}"/>
              </a:ext>
            </a:extLst>
          </p:cNvPr>
          <p:cNvSpPr>
            <a:spLocks noGrp="1"/>
          </p:cNvSpPr>
          <p:nvPr>
            <p:ph type="sldNum" sz="quarter" idx="12"/>
          </p:nvPr>
        </p:nvSpPr>
        <p:spPr/>
        <p:txBody>
          <a:bodyPr/>
          <a:lstStyle/>
          <a:p>
            <a:fld id="{F2CCE190-E288-4FAE-B2C2-E9F20F724A24}" type="slidenum">
              <a:rPr lang="en-US" smtClean="0"/>
              <a:t>13</a:t>
            </a:fld>
            <a:endParaRPr lang="en-US"/>
          </a:p>
        </p:txBody>
      </p:sp>
      <p:pic>
        <p:nvPicPr>
          <p:cNvPr id="3" name="صورة 2">
            <a:extLst>
              <a:ext uri="{FF2B5EF4-FFF2-40B4-BE49-F238E27FC236}">
                <a16:creationId xmlns:a16="http://schemas.microsoft.com/office/drawing/2014/main" id="{C3820F6E-F159-4EEA-A6F3-8D392262E5FC}"/>
              </a:ext>
            </a:extLst>
          </p:cNvPr>
          <p:cNvPicPr>
            <a:picLocks noChangeAspect="1"/>
          </p:cNvPicPr>
          <p:nvPr/>
        </p:nvPicPr>
        <p:blipFill>
          <a:blip r:embed="rId3"/>
          <a:stretch>
            <a:fillRect/>
          </a:stretch>
        </p:blipFill>
        <p:spPr>
          <a:xfrm>
            <a:off x="491490" y="1578546"/>
            <a:ext cx="9334500" cy="4876800"/>
          </a:xfrm>
          <a:prstGeom prst="rect">
            <a:avLst/>
          </a:prstGeom>
        </p:spPr>
      </p:pic>
      <p:sp>
        <p:nvSpPr>
          <p:cNvPr id="5" name="وسيلة الشرح: سهم لليسار 4">
            <a:extLst>
              <a:ext uri="{FF2B5EF4-FFF2-40B4-BE49-F238E27FC236}">
                <a16:creationId xmlns:a16="http://schemas.microsoft.com/office/drawing/2014/main" id="{9638E839-9101-4088-A6CE-793998347D38}"/>
              </a:ext>
            </a:extLst>
          </p:cNvPr>
          <p:cNvSpPr/>
          <p:nvPr/>
        </p:nvSpPr>
        <p:spPr>
          <a:xfrm>
            <a:off x="9729978" y="2953956"/>
            <a:ext cx="2125218" cy="2125980"/>
          </a:xfrm>
          <a:prstGeom prst="left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ar-SY" dirty="0"/>
              <a:t>العوامل المؤثرة في المشاريع البرمجية</a:t>
            </a:r>
            <a:endParaRPr lang="en-US" dirty="0"/>
          </a:p>
        </p:txBody>
      </p:sp>
    </p:spTree>
    <p:extLst>
      <p:ext uri="{BB962C8B-B14F-4D97-AF65-F5344CB8AC3E}">
        <p14:creationId xmlns:p14="http://schemas.microsoft.com/office/powerpoint/2010/main" val="17717573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نوع الخشب">
  <a:themeElements>
    <a:clrScheme name="نوع الخشب">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نوع الخشب">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نوع الخشب">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TM03090434[[fn=نوع خشب]]</Template>
  <TotalTime>2224</TotalTime>
  <Words>1131</Words>
  <Application>Microsoft Office PowerPoint</Application>
  <PresentationFormat>Widescreen</PresentationFormat>
  <Paragraphs>147</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Rockwell</vt:lpstr>
      <vt:lpstr>Rockwell Condensed</vt:lpstr>
      <vt:lpstr>Times New Roman</vt:lpstr>
      <vt:lpstr>Wingdings</vt:lpstr>
      <vt:lpstr>نوع الخشب</vt:lpstr>
      <vt:lpstr>إدارة نظم  المعلومات </vt:lpstr>
      <vt:lpstr>مقدمة الى تحليل و تصميم نظم المعلومات</vt:lpstr>
      <vt:lpstr>مكونات نظام المعلومات</vt:lpstr>
      <vt:lpstr>نظام المعلومات و الاعمال</vt:lpstr>
      <vt:lpstr>نمذجة عمليات الاعمال</vt:lpstr>
      <vt:lpstr>ما هي المعلومات التي يحتاجها المستخدم؟</vt:lpstr>
      <vt:lpstr>أساليب تطوير النظم</vt:lpstr>
      <vt:lpstr>قسم الIT ضمن الشركات</vt:lpstr>
      <vt:lpstr>تحليل قضايا الاعمال</vt:lpstr>
      <vt:lpstr>اطار العمل الخاص بقسم الIT</vt:lpstr>
      <vt:lpstr>العمل كحالة مدروسة</vt:lpstr>
      <vt:lpstr>مشاريع نظم المعلومات</vt:lpstr>
      <vt:lpstr>مشاريع نظم المعلومات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إدارة نظم  المعلومات</dc:title>
  <dc:creator>AHAMD</dc:creator>
  <cp:lastModifiedBy>Maher</cp:lastModifiedBy>
  <cp:revision>20</cp:revision>
  <dcterms:created xsi:type="dcterms:W3CDTF">2019-03-10T19:29:53Z</dcterms:created>
  <dcterms:modified xsi:type="dcterms:W3CDTF">2026-04-13T05:33:24Z</dcterms:modified>
</cp:coreProperties>
</file>